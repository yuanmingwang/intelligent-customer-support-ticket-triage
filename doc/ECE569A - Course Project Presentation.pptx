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Lst>
  <p:sldSz cy="5143500" cx="9144000"/>
  <p:notesSz cx="6858000" cy="9144000"/>
  <p:embeddedFontLst>
    <p:embeddedFont>
      <p:font typeface="Old Standard TT"/>
      <p:regular r:id="rId31"/>
      <p:bold r:id="rId32"/>
      <p:italic r:id="rId3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OldStandardTT-regular.fntdata"/><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font" Target="fonts/OldStandardTT-italic.fntdata"/><Relationship Id="rId10" Type="http://schemas.openxmlformats.org/officeDocument/2006/relationships/slide" Target="slides/slide5.xml"/><Relationship Id="rId32" Type="http://schemas.openxmlformats.org/officeDocument/2006/relationships/font" Target="fonts/OldStandardTT-bold.fnt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c6f90357f_0_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gc6f90357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Hello everyone. We are Group 20, and our project is AI Customer IT Support Ticket Classification.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c6f90357f_0_13: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c6f90357f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is our agenda</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t>
            </a:r>
            <a:r>
              <a:rPr lang="en"/>
              <a:t>I will start with the motivation, the dataset, what we learned from EDA, and how we prepared the data for the models. After that, we will move into the three modeling approaches and then compare the final results.)</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3f597c58a07_1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3f597c58a07_1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First, the problem. A support team receives raw customer tickets, and someone has to decide what the ticket is about, how urgent it is, and which queue should handle it.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t>We model this as supervised multi-class text classification. The input is the combined subject and body, and the three outputs are ticket type, priority, and queue.</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The goal is to take a raw customer support ticket and automatically predict useful routing labels, so the ticket can reach the right team more quickly.</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3f597c58a07_1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3f597c58a07_1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For the data, the average ticket has about 59 words, and the ticket length distribution is not perfectly uniform.</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rPr lang="en">
                <a:solidFill>
                  <a:schemeClr val="dk1"/>
                </a:solidFill>
              </a:rPr>
              <a:t>T</a:t>
            </a:r>
            <a:r>
              <a:rPr lang="en">
                <a:solidFill>
                  <a:schemeClr val="dk1"/>
                </a:solidFill>
              </a:rPr>
              <a:t>he main modeling difficulty is that the classes are not balanced, and support-related queues can overlap in wording. Some of the queue names are semantically close, such as Technical Support, IT Support</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f597c58a07_1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f597c58a07_1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preprocessing pipeline is simple. We combine the subject and body, handle missing value, and then use a stratified 80-20 split. After that, different models use different representations</a:t>
            </a:r>
            <a:r>
              <a:rPr lang="en"/>
              <a:t>, such as TF-IDF features or BERT embeddings.</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c6f90357f_0_9: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c6f90357f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t>Now, let’s look at our first modelling approach: combing TF-IDF for feature extraction with a Support Vector Machine classifier.</a:t>
            </a:r>
            <a:endParaRPr/>
          </a:p>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3f597c58a07_4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3f597c58a07_4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t>To represent the text, we use TF-IDF. </a:t>
            </a:r>
            <a:endParaRPr/>
          </a:p>
          <a:p>
            <a:pPr indent="0" lvl="0" marL="0" rtl="0" algn="l">
              <a:lnSpc>
                <a:spcPct val="115000"/>
              </a:lnSpc>
              <a:spcBef>
                <a:spcPts val="0"/>
              </a:spcBef>
              <a:spcAft>
                <a:spcPts val="0"/>
              </a:spcAft>
              <a:buNone/>
            </a:pPr>
            <a:r>
              <a:t/>
            </a:r>
            <a:endParaRPr/>
          </a:p>
          <a:p>
            <a:pPr indent="0" lvl="0" marL="0" rtl="0" algn="l">
              <a:lnSpc>
                <a:spcPct val="115000"/>
              </a:lnSpc>
              <a:spcBef>
                <a:spcPts val="0"/>
              </a:spcBef>
              <a:spcAft>
                <a:spcPts val="0"/>
              </a:spcAft>
              <a:buNone/>
            </a:pPr>
            <a:r>
              <a:rPr lang="en"/>
              <a:t>TF stands for term frequency that measures how often a word appears in a specific document. </a:t>
            </a:r>
            <a:endParaRPr/>
          </a:p>
          <a:p>
            <a:pPr indent="0" lvl="0" marL="0" rtl="0" algn="l">
              <a:lnSpc>
                <a:spcPct val="115000"/>
              </a:lnSpc>
              <a:spcBef>
                <a:spcPts val="0"/>
              </a:spcBef>
              <a:spcAft>
                <a:spcPts val="0"/>
              </a:spcAft>
              <a:buNone/>
            </a:pPr>
            <a:r>
              <a:t/>
            </a:r>
            <a:endParaRPr/>
          </a:p>
          <a:p>
            <a:pPr indent="0" lvl="0" marL="0" rtl="0" algn="l">
              <a:lnSpc>
                <a:spcPct val="115000"/>
              </a:lnSpc>
              <a:spcBef>
                <a:spcPts val="0"/>
              </a:spcBef>
              <a:spcAft>
                <a:spcPts val="0"/>
              </a:spcAft>
              <a:buNone/>
            </a:pPr>
            <a:r>
              <a:rPr lang="en"/>
              <a:t>Inverse document frequency balances this by penalizing common words like “the” or “and”, which appear everywhere in the text. </a:t>
            </a:r>
            <a:endParaRPr/>
          </a:p>
          <a:p>
            <a:pPr indent="0" lvl="0" marL="0" rtl="0" algn="l">
              <a:lnSpc>
                <a:spcPct val="115000"/>
              </a:lnSpc>
              <a:spcBef>
                <a:spcPts val="0"/>
              </a:spcBef>
              <a:spcAft>
                <a:spcPts val="0"/>
              </a:spcAft>
              <a:buNone/>
            </a:pPr>
            <a:r>
              <a:t/>
            </a:r>
            <a:endParaRPr/>
          </a:p>
          <a:p>
            <a:pPr indent="0" lvl="0" marL="0" rtl="0" algn="l">
              <a:lnSpc>
                <a:spcPct val="115000"/>
              </a:lnSpc>
              <a:spcBef>
                <a:spcPts val="0"/>
              </a:spcBef>
              <a:spcAft>
                <a:spcPts val="0"/>
              </a:spcAft>
              <a:buClr>
                <a:schemeClr val="dk1"/>
              </a:buClr>
              <a:buSzPts val="1100"/>
              <a:buFont typeface="Arial"/>
              <a:buNone/>
            </a:pPr>
            <a:r>
              <a:rPr lang="en"/>
              <a:t>By </a:t>
            </a:r>
            <a:r>
              <a:rPr lang="en"/>
              <a:t>combining</a:t>
            </a:r>
            <a:r>
              <a:rPr lang="en"/>
              <a:t> these two measures, we have the TF-IDF vectorization which creates a feature set for our SVM model.</a:t>
            </a:r>
            <a:endParaRPr/>
          </a:p>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c6f90357f_0_19: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c6f90357f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t>But what is a SVM? </a:t>
            </a:r>
            <a:endParaRPr/>
          </a:p>
          <a:p>
            <a:pPr indent="0" lvl="0" marL="0" rtl="0" algn="l">
              <a:lnSpc>
                <a:spcPct val="115000"/>
              </a:lnSpc>
              <a:spcBef>
                <a:spcPts val="0"/>
              </a:spcBef>
              <a:spcAft>
                <a:spcPts val="0"/>
              </a:spcAft>
              <a:buNone/>
            </a:pPr>
            <a:r>
              <a:t/>
            </a:r>
            <a:endParaRPr/>
          </a:p>
          <a:p>
            <a:pPr indent="0" lvl="0" marL="0" rtl="0" algn="l">
              <a:lnSpc>
                <a:spcPct val="115000"/>
              </a:lnSpc>
              <a:spcBef>
                <a:spcPts val="0"/>
              </a:spcBef>
              <a:spcAft>
                <a:spcPts val="0"/>
              </a:spcAft>
              <a:buNone/>
            </a:pPr>
            <a:r>
              <a:rPr lang="en"/>
              <a:t>If we define margin as the distance between the decision boundary to the closest data points form each class, </a:t>
            </a:r>
            <a:endParaRPr/>
          </a:p>
          <a:p>
            <a:pPr indent="0" lvl="0" marL="0" rtl="0" algn="l">
              <a:lnSpc>
                <a:spcPct val="115000"/>
              </a:lnSpc>
              <a:spcBef>
                <a:spcPts val="0"/>
              </a:spcBef>
              <a:spcAft>
                <a:spcPts val="0"/>
              </a:spcAft>
              <a:buNone/>
            </a:pPr>
            <a:r>
              <a:rPr lang="en"/>
              <a:t>then the whole idea of linear SVM is just finding the optimal decision boundary with the maximum margin, </a:t>
            </a:r>
            <a:endParaRPr/>
          </a:p>
          <a:p>
            <a:pPr indent="0" lvl="0" marL="0" rtl="0" algn="l">
              <a:lnSpc>
                <a:spcPct val="115000"/>
              </a:lnSpc>
              <a:spcBef>
                <a:spcPts val="0"/>
              </a:spcBef>
              <a:spcAft>
                <a:spcPts val="0"/>
              </a:spcAft>
              <a:buNone/>
            </a:pPr>
            <a:r>
              <a:rPr lang="en"/>
              <a:t>since this would minimize the likelihood of classification errors on unseen data.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f597c58a07_4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3f597c58a07_4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t>But what if our data is not separated well by a linear classifier? </a:t>
            </a:r>
            <a:endParaRPr/>
          </a:p>
          <a:p>
            <a:pPr indent="0" lvl="0" marL="0" rtl="0" algn="l">
              <a:lnSpc>
                <a:spcPct val="115000"/>
              </a:lnSpc>
              <a:spcBef>
                <a:spcPts val="0"/>
              </a:spcBef>
              <a:spcAft>
                <a:spcPts val="0"/>
              </a:spcAft>
              <a:buNone/>
            </a:pPr>
            <a:r>
              <a:t/>
            </a:r>
            <a:endParaRPr/>
          </a:p>
          <a:p>
            <a:pPr indent="0" lvl="0" marL="0" rtl="0" algn="l">
              <a:lnSpc>
                <a:spcPct val="115000"/>
              </a:lnSpc>
              <a:spcBef>
                <a:spcPts val="0"/>
              </a:spcBef>
              <a:spcAft>
                <a:spcPts val="0"/>
              </a:spcAft>
              <a:buNone/>
            </a:pPr>
            <a:r>
              <a:rPr lang="en"/>
              <a:t>We’ve also tried a method called “kernel trick”, which allows us to project our data into a higher or even infinite-dimensional space,</a:t>
            </a:r>
            <a:endParaRPr/>
          </a:p>
          <a:p>
            <a:pPr indent="0" lvl="0" marL="0" rtl="0" algn="l">
              <a:lnSpc>
                <a:spcPct val="115000"/>
              </a:lnSpc>
              <a:spcBef>
                <a:spcPts val="0"/>
              </a:spcBef>
              <a:spcAft>
                <a:spcPts val="0"/>
              </a:spcAft>
              <a:buClr>
                <a:schemeClr val="dk1"/>
              </a:buClr>
              <a:buSzPts val="1100"/>
              <a:buFont typeface="Arial"/>
              <a:buNone/>
            </a:pPr>
            <a:r>
              <a:rPr lang="en"/>
              <a:t>where we can successfully separate the classes with a straight decision boundary. </a:t>
            </a:r>
            <a:endParaRPr/>
          </a:p>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f597c58a07_4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3f597c58a07_4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t>To optimize performance, we tune key hyparameters. </a:t>
            </a:r>
            <a:endParaRPr/>
          </a:p>
          <a:p>
            <a:pPr indent="0" lvl="0" marL="0" rtl="0" algn="l">
              <a:lnSpc>
                <a:spcPct val="115000"/>
              </a:lnSpc>
              <a:spcBef>
                <a:spcPts val="0"/>
              </a:spcBef>
              <a:spcAft>
                <a:spcPts val="0"/>
              </a:spcAft>
              <a:buNone/>
            </a:pPr>
            <a:r>
              <a:t/>
            </a:r>
            <a:endParaRPr/>
          </a:p>
          <a:p>
            <a:pPr indent="0" lvl="0" marL="0" rtl="0" algn="l">
              <a:lnSpc>
                <a:spcPct val="115000"/>
              </a:lnSpc>
              <a:spcBef>
                <a:spcPts val="0"/>
              </a:spcBef>
              <a:spcAft>
                <a:spcPts val="0"/>
              </a:spcAft>
              <a:buNone/>
            </a:pPr>
            <a:r>
              <a:rPr lang="en"/>
              <a:t>The kernel Degree introduced in the last slide allows us to switch between Linear or RBF kernel. </a:t>
            </a:r>
            <a:endParaRPr/>
          </a:p>
          <a:p>
            <a:pPr indent="0" lvl="0" marL="0" rtl="0" algn="l">
              <a:lnSpc>
                <a:spcPct val="115000"/>
              </a:lnSpc>
              <a:spcBef>
                <a:spcPts val="0"/>
              </a:spcBef>
              <a:spcAft>
                <a:spcPts val="0"/>
              </a:spcAft>
              <a:buNone/>
            </a:pPr>
            <a:r>
              <a:t/>
            </a:r>
            <a:endParaRPr/>
          </a:p>
          <a:p>
            <a:pPr indent="0" lvl="0" marL="0" rtl="0" algn="l">
              <a:lnSpc>
                <a:spcPct val="115000"/>
              </a:lnSpc>
              <a:spcBef>
                <a:spcPts val="0"/>
              </a:spcBef>
              <a:spcAft>
                <a:spcPts val="0"/>
              </a:spcAft>
              <a:buNone/>
            </a:pPr>
            <a:r>
              <a:rPr lang="en"/>
              <a:t>Soft-margin Regularization is another hyperparameter that trades off training error against boundary simplicity. </a:t>
            </a:r>
            <a:endParaRPr/>
          </a:p>
          <a:p>
            <a:pPr indent="0" lvl="0" marL="0" rtl="0" algn="l">
              <a:lnSpc>
                <a:spcPct val="115000"/>
              </a:lnSpc>
              <a:spcBef>
                <a:spcPts val="0"/>
              </a:spcBef>
              <a:spcAft>
                <a:spcPts val="0"/>
              </a:spcAft>
              <a:buNone/>
            </a:pPr>
            <a:r>
              <a:t/>
            </a:r>
            <a:endParaRPr/>
          </a:p>
          <a:p>
            <a:pPr indent="0" lvl="0" marL="0" rtl="0" algn="l">
              <a:lnSpc>
                <a:spcPct val="115000"/>
              </a:lnSpc>
              <a:spcBef>
                <a:spcPts val="0"/>
              </a:spcBef>
              <a:spcAft>
                <a:spcPts val="0"/>
              </a:spcAft>
              <a:buClr>
                <a:schemeClr val="dk1"/>
              </a:buClr>
              <a:buSzPts val="1100"/>
              <a:buFont typeface="Arial"/>
              <a:buNone/>
            </a:pPr>
            <a:r>
              <a:rPr lang="en"/>
              <a:t>Finally, for the RBF kernel SVM, we adjust ‘gamma’ to control the influence of individual training examples on the model’s complexity. </a:t>
            </a:r>
            <a:endParaRPr/>
          </a:p>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f597c58a07_4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3f597c58a07_4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t>For this tuning process, we utilize RandomizedSearchCV which combines the idea of randomized search with k-fold Cross Validation.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c6f90357f_0_27: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c6f90357f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f597c58a07_2_28: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f597c58a07_2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 used </a:t>
            </a:r>
            <a:r>
              <a:rPr lang="en"/>
              <a:t>BERT to convert raw ticket text into numeric vectors to capture semantic meaning so a neural network can actually process it.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We tokenize the ticket text into batches of 32 with a max length of 128, then run it through BERT to get a contextual vector for every individual token shaped by the surrounding sentence.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Since tickets vary in length, we collapse all those token vectors into a single </a:t>
            </a:r>
            <a:r>
              <a:rPr lang="en"/>
              <a:t>fixed-</a:t>
            </a:r>
            <a:r>
              <a:rPr lang="en"/>
              <a:t>size vector per ticket by averaging them.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c6f90357f_0_3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c6f90357f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 our project, we used </a:t>
            </a:r>
            <a:r>
              <a:rPr lang="en"/>
              <a:t>Multi-Layer Perceptron as our a feedforward neural network model that takes the BERT ticket embedding as input, passes it through hidden layers where each neuron applies weights, a bias, and a nonlinear activation, and learns via backpropagation.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key hyperparameters are the hidden layer sizes, activation function, L2 regularization, and learning rate.</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f597c58a07_2_19: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3f597c58a07_2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a:t>
            </a:r>
            <a:r>
              <a:rPr lang="en"/>
              <a:t>he genetic algorithm was used to search for the best hyperparameters of the neural network model separately for predicting ticket type, priority, and queue with the fitness being measured through 3-fold stratified cross-validation.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Starting from a random population of 8, each generation evaluates every individual's fitness, keeps the best one unchanged, and selects parents via tournament selection to breed children through uniform crossover and mutation.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This repeats for 5 generations, ultimately selecting the best-performing genome for each prediction task.</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f5a267d72b_0_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3f5a267d72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f5a267d72b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3f5a267d72b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solidFill>
                  <a:srgbClr val="1A1C1F"/>
                </a:solidFill>
              </a:rPr>
              <a:t>The third </a:t>
            </a:r>
            <a:r>
              <a:rPr lang="en" sz="1200">
                <a:solidFill>
                  <a:srgbClr val="1A1C1F"/>
                </a:solidFill>
              </a:rPr>
              <a:t>method</a:t>
            </a:r>
            <a:r>
              <a:rPr lang="en" sz="1200">
                <a:solidFill>
                  <a:srgbClr val="1A1C1F"/>
                </a:solidFill>
              </a:rPr>
              <a:t> we use is kNN.</a:t>
            </a:r>
            <a:endParaRPr sz="1200">
              <a:solidFill>
                <a:srgbClr val="1A1C1F"/>
              </a:solidFill>
            </a:endParaRPr>
          </a:p>
          <a:p>
            <a:pPr indent="0" lvl="0" marL="0" rtl="0" algn="l">
              <a:spcBef>
                <a:spcPts val="0"/>
              </a:spcBef>
              <a:spcAft>
                <a:spcPts val="0"/>
              </a:spcAft>
              <a:buClr>
                <a:schemeClr val="dk1"/>
              </a:buClr>
              <a:buSzPts val="1100"/>
              <a:buFont typeface="Arial"/>
              <a:buNone/>
            </a:pPr>
            <a:r>
              <a:rPr lang="en" sz="1200">
                <a:solidFill>
                  <a:srgbClr val="1A1C1F"/>
                </a:solidFill>
              </a:rPr>
              <a:t>For each new input, the model finds the k nearest neighbors in the </a:t>
            </a:r>
            <a:r>
              <a:rPr lang="en" sz="1200">
                <a:solidFill>
                  <a:srgbClr val="1A1C1F"/>
                </a:solidFill>
              </a:rPr>
              <a:t>training</a:t>
            </a:r>
            <a:r>
              <a:rPr lang="en" sz="1200">
                <a:solidFill>
                  <a:srgbClr val="1A1C1F"/>
                </a:solidFill>
              </a:rPr>
              <a:t> set, and then uses their labels to make the final prediction.</a:t>
            </a:r>
            <a:endParaRPr sz="1200">
              <a:solidFill>
                <a:srgbClr val="1A1C1F"/>
              </a:solidFill>
            </a:endParaRPr>
          </a:p>
          <a:p>
            <a:pPr indent="0" lvl="0" marL="0" rtl="0" algn="l">
              <a:spcBef>
                <a:spcPts val="0"/>
              </a:spcBef>
              <a:spcAft>
                <a:spcPts val="0"/>
              </a:spcAft>
              <a:buNone/>
            </a:pPr>
            <a:r>
              <a:rPr lang="en" sz="1200">
                <a:solidFill>
                  <a:srgbClr val="1A1C1F"/>
                </a:solidFill>
              </a:rPr>
              <a:t>In our project, we use </a:t>
            </a:r>
            <a:r>
              <a:rPr lang="en" sz="1200">
                <a:solidFill>
                  <a:srgbClr val="FF0000"/>
                </a:solidFill>
              </a:rPr>
              <a:t>distance-weighted voting</a:t>
            </a:r>
            <a:r>
              <a:rPr lang="en" sz="1200">
                <a:solidFill>
                  <a:srgbClr val="1A1C1F"/>
                </a:solidFill>
              </a:rPr>
              <a:t>, so closer neighbors have more influence.</a:t>
            </a:r>
            <a:endParaRPr sz="1300"/>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3f5a267d72b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3f5a267d72b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solidFill>
                  <a:srgbClr val="1A1C1F"/>
                </a:solidFill>
              </a:rPr>
              <a:t>In our project, we firstly convert each ticket into a TF-IDF vector.</a:t>
            </a:r>
            <a:endParaRPr sz="1200">
              <a:solidFill>
                <a:srgbClr val="1A1C1F"/>
              </a:solidFill>
            </a:endParaRPr>
          </a:p>
          <a:p>
            <a:pPr indent="0" lvl="0" marL="0" rtl="0" algn="l">
              <a:spcBef>
                <a:spcPts val="0"/>
              </a:spcBef>
              <a:spcAft>
                <a:spcPts val="0"/>
              </a:spcAft>
              <a:buNone/>
            </a:pPr>
            <a:r>
              <a:rPr lang="en" sz="1200">
                <a:solidFill>
                  <a:srgbClr val="1A1C1F"/>
                </a:solidFill>
              </a:rPr>
              <a:t>Then we use cosine similarity to compare.</a:t>
            </a:r>
            <a:endParaRPr sz="1200"/>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3f597c58a07_2_38: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3f597c58a07_2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1A1C1F"/>
                </a:solidFill>
              </a:rPr>
              <a:t>This table compares the performance of all our models, the logistic regression model is used as the baseline. </a:t>
            </a:r>
            <a:endParaRPr sz="1200">
              <a:solidFill>
                <a:srgbClr val="1A1C1F"/>
              </a:solidFill>
            </a:endParaRPr>
          </a:p>
          <a:p>
            <a:pPr indent="0" lvl="0" marL="0" rtl="0" algn="l">
              <a:spcBef>
                <a:spcPts val="0"/>
              </a:spcBef>
              <a:spcAft>
                <a:spcPts val="0"/>
              </a:spcAft>
              <a:buNone/>
            </a:pPr>
            <a:r>
              <a:t/>
            </a:r>
            <a:endParaRPr sz="1200">
              <a:solidFill>
                <a:srgbClr val="1A1C1F"/>
              </a:solidFill>
            </a:endParaRPr>
          </a:p>
          <a:p>
            <a:pPr indent="0" lvl="0" marL="0" rtl="0" algn="l">
              <a:spcBef>
                <a:spcPts val="0"/>
              </a:spcBef>
              <a:spcAft>
                <a:spcPts val="0"/>
              </a:spcAft>
              <a:buNone/>
            </a:pPr>
            <a:r>
              <a:rPr lang="en" sz="1200">
                <a:solidFill>
                  <a:srgbClr val="1A1C1F"/>
                </a:solidFill>
              </a:rPr>
              <a:t>Since our </a:t>
            </a:r>
            <a:r>
              <a:rPr lang="en" sz="1200">
                <a:solidFill>
                  <a:srgbClr val="1A1C1F"/>
                </a:solidFill>
              </a:rPr>
              <a:t>dataset</a:t>
            </a:r>
            <a:r>
              <a:rPr lang="en" sz="1200">
                <a:solidFill>
                  <a:srgbClr val="1A1C1F"/>
                </a:solidFill>
              </a:rPr>
              <a:t> is not balanced, accuracy alone is not enough for evaluating the performance, we need look into other </a:t>
            </a:r>
            <a:r>
              <a:rPr lang="en" sz="1200">
                <a:solidFill>
                  <a:srgbClr val="1A1C1F"/>
                </a:solidFill>
                <a:latin typeface="Courier New"/>
                <a:ea typeface="Courier New"/>
                <a:cs typeface="Courier New"/>
                <a:sym typeface="Courier New"/>
              </a:rPr>
              <a:t>metrics such as precision, f1, recall</a:t>
            </a:r>
            <a:r>
              <a:rPr lang="en" sz="1200">
                <a:solidFill>
                  <a:srgbClr val="1A1C1F"/>
                </a:solidFill>
              </a:rPr>
              <a:t>.</a:t>
            </a:r>
            <a:endParaRPr sz="1200">
              <a:solidFill>
                <a:srgbClr val="1A1C1F"/>
              </a:solidFill>
            </a:endParaRPr>
          </a:p>
          <a:p>
            <a:pPr indent="0" lvl="0" marL="0" rtl="0" algn="l">
              <a:spcBef>
                <a:spcPts val="0"/>
              </a:spcBef>
              <a:spcAft>
                <a:spcPts val="0"/>
              </a:spcAft>
              <a:buNone/>
            </a:pPr>
            <a:r>
              <a:t/>
            </a:r>
            <a:endParaRPr sz="1200">
              <a:solidFill>
                <a:srgbClr val="1A1C1F"/>
              </a:solidFill>
            </a:endParaRPr>
          </a:p>
          <a:p>
            <a:pPr indent="0" lvl="0" marL="0" rtl="0" algn="l">
              <a:spcBef>
                <a:spcPts val="0"/>
              </a:spcBef>
              <a:spcAft>
                <a:spcPts val="0"/>
              </a:spcAft>
              <a:buNone/>
            </a:pPr>
            <a:r>
              <a:rPr lang="en" sz="1200">
                <a:solidFill>
                  <a:srgbClr val="1A1C1F"/>
                </a:solidFill>
              </a:rPr>
              <a:t>Looking at all these metrics together, we found kNN is the best overall model.</a:t>
            </a:r>
            <a:endParaRPr sz="1400">
              <a:solidFill>
                <a:srgbClr val="1A1C1F"/>
              </a:solidFil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f5a267d72b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 name="Google Shape;201;g3f5a267d72b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43181"/>
              </a:lnSpc>
              <a:spcBef>
                <a:spcPts val="600"/>
              </a:spcBef>
              <a:spcAft>
                <a:spcPts val="0"/>
              </a:spcAft>
              <a:buNone/>
            </a:pPr>
            <a:r>
              <a:rPr lang="en" sz="1200">
                <a:solidFill>
                  <a:srgbClr val="1A1C1F"/>
                </a:solidFill>
              </a:rPr>
              <a:t>Because of the dataset size and we are dealing with nl, the search space is very sparse.</a:t>
            </a:r>
            <a:endParaRPr sz="1200">
              <a:solidFill>
                <a:srgbClr val="1A1C1F"/>
              </a:solidFill>
            </a:endParaRPr>
          </a:p>
          <a:p>
            <a:pPr indent="0" lvl="0" marL="0" rtl="0" algn="l">
              <a:lnSpc>
                <a:spcPct val="143181"/>
              </a:lnSpc>
              <a:spcBef>
                <a:spcPts val="600"/>
              </a:spcBef>
              <a:spcAft>
                <a:spcPts val="0"/>
              </a:spcAft>
              <a:buNone/>
            </a:pPr>
            <a:r>
              <a:rPr lang="en" sz="1200">
                <a:solidFill>
                  <a:srgbClr val="1A1C1F"/>
                </a:solidFill>
              </a:rPr>
              <a:t>In this case, kNN works the best because it can directly rely on the nearest historical cases.</a:t>
            </a:r>
            <a:endParaRPr sz="1200">
              <a:solidFill>
                <a:srgbClr val="1A1C1F"/>
              </a:solidFill>
            </a:endParaRPr>
          </a:p>
          <a:p>
            <a:pPr indent="0" lvl="0" marL="0" rtl="0" algn="l">
              <a:lnSpc>
                <a:spcPct val="143181"/>
              </a:lnSpc>
              <a:spcBef>
                <a:spcPts val="600"/>
              </a:spcBef>
              <a:spcAft>
                <a:spcPts val="0"/>
              </a:spcAft>
              <a:buNone/>
            </a:pPr>
            <a:r>
              <a:rPr lang="en" sz="1200">
                <a:solidFill>
                  <a:srgbClr val="1A1C1F"/>
                </a:solidFill>
              </a:rPr>
              <a:t>Since many support tickets are very similar to previous ones, this matching-based method is very effective.</a:t>
            </a:r>
            <a:endParaRPr sz="1200">
              <a:solidFill>
                <a:srgbClr val="1A1C1F"/>
              </a:solidFill>
            </a:endParaRPr>
          </a:p>
          <a:p>
            <a:pPr indent="0" lvl="0" marL="0" rtl="0" algn="l">
              <a:lnSpc>
                <a:spcPct val="143181"/>
              </a:lnSpc>
              <a:spcBef>
                <a:spcPts val="600"/>
              </a:spcBef>
              <a:spcAft>
                <a:spcPts val="0"/>
              </a:spcAft>
              <a:buNone/>
            </a:pPr>
            <a:r>
              <a:rPr lang="en" sz="1200">
                <a:solidFill>
                  <a:srgbClr val="1A1C1F"/>
                </a:solidFill>
              </a:rPr>
              <a:t>In the </a:t>
            </a:r>
            <a:r>
              <a:rPr lang="en" sz="1200">
                <a:solidFill>
                  <a:srgbClr val="1A1C1F"/>
                </a:solidFill>
              </a:rPr>
              <a:t>meantime</a:t>
            </a:r>
            <a:r>
              <a:rPr lang="en" sz="1200">
                <a:solidFill>
                  <a:srgbClr val="1A1C1F"/>
                </a:solidFill>
              </a:rPr>
              <a:t>, other models such as SVM or nn models try to learn broader patterns from the data, and that advantage may not be fully visible here.</a:t>
            </a:r>
            <a:endParaRPr sz="1200">
              <a:solidFill>
                <a:srgbClr val="1A1C1F"/>
              </a:solidFill>
            </a:endParaRPr>
          </a:p>
          <a:p>
            <a:pPr indent="0" lvl="0" marL="0" rtl="0" algn="l">
              <a:lnSpc>
                <a:spcPct val="143181"/>
              </a:lnSpc>
              <a:spcBef>
                <a:spcPts val="600"/>
              </a:spcBef>
              <a:spcAft>
                <a:spcPts val="0"/>
              </a:spcAft>
              <a:buClr>
                <a:schemeClr val="dk1"/>
              </a:buClr>
              <a:buSzPts val="1100"/>
              <a:buFont typeface="Arial"/>
              <a:buNone/>
            </a:pPr>
            <a:r>
              <a:rPr lang="en" sz="1200">
                <a:solidFill>
                  <a:srgbClr val="1A1C1F"/>
                </a:solidFill>
              </a:rPr>
              <a:t>But in a larger and more diverse real-world environment, </a:t>
            </a:r>
            <a:r>
              <a:rPr lang="en" sz="1200">
                <a:solidFill>
                  <a:srgbClr val="1A1C1F"/>
                </a:solidFill>
              </a:rPr>
              <a:t>they</a:t>
            </a:r>
            <a:r>
              <a:rPr lang="en" sz="1200">
                <a:solidFill>
                  <a:srgbClr val="1A1C1F"/>
                </a:solidFill>
              </a:rPr>
              <a:t> will have more advantage.</a:t>
            </a:r>
            <a:endParaRPr sz="1200">
              <a:solidFill>
                <a:srgbClr val="1A1C1F"/>
              </a:solidFill>
            </a:endParaRPr>
          </a:p>
          <a:p>
            <a:pPr indent="0" lvl="0" marL="0" rtl="0" algn="l">
              <a:spcBef>
                <a:spcPts val="60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3f5a267d72b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g3f5a267d72b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152400" rtl="0" algn="l">
              <a:lnSpc>
                <a:spcPct val="157500"/>
              </a:lnSpc>
              <a:spcBef>
                <a:spcPts val="600"/>
              </a:spcBef>
              <a:spcAft>
                <a:spcPts val="0"/>
              </a:spcAft>
              <a:buNone/>
            </a:pPr>
            <a:r>
              <a:rPr lang="en" sz="1200">
                <a:solidFill>
                  <a:srgbClr val="1A1C1F"/>
                </a:solidFill>
              </a:rPr>
              <a:t>For ticket type, the kNN model performs very well, with around 91 percent accuracy and a weighted F1.</a:t>
            </a:r>
            <a:br>
              <a:rPr lang="en" sz="1200">
                <a:solidFill>
                  <a:srgbClr val="1A1C1F"/>
                </a:solidFill>
              </a:rPr>
            </a:br>
            <a:r>
              <a:rPr lang="en" sz="1200">
                <a:solidFill>
                  <a:srgbClr val="1A1C1F"/>
                </a:solidFill>
              </a:rPr>
              <a:t>Most elements in the confusion matrix lie on the diagonal, so most tickets are classified correctly.</a:t>
            </a:r>
            <a:endParaRPr sz="1200">
              <a:solidFill>
                <a:srgbClr val="1A1C1F"/>
              </a:solidFill>
            </a:endParaRPr>
          </a:p>
          <a:p>
            <a:pPr indent="0" lvl="0" marL="0" rtl="0" algn="l">
              <a:lnSpc>
                <a:spcPct val="115000"/>
              </a:lnSpc>
              <a:spcBef>
                <a:spcPts val="600"/>
              </a:spcBef>
              <a:spcAft>
                <a:spcPts val="0"/>
              </a:spcAft>
              <a:buNone/>
            </a:pPr>
            <a:r>
              <a:t/>
            </a:r>
            <a:endParaRPr>
              <a:solidFill>
                <a:schemeClr val="dk1"/>
              </a:solidFill>
            </a:endParaRPr>
          </a:p>
          <a:p>
            <a:pPr indent="0" lvl="0" marL="0" rtl="0" algn="l">
              <a:lnSpc>
                <a:spcPct val="143181"/>
              </a:lnSpc>
              <a:spcBef>
                <a:spcPts val="600"/>
              </a:spcBef>
              <a:spcAft>
                <a:spcPts val="0"/>
              </a:spcAft>
              <a:buClr>
                <a:schemeClr val="dk1"/>
              </a:buClr>
              <a:buSzPts val="1100"/>
              <a:buFont typeface="Arial"/>
              <a:buNone/>
            </a:pPr>
            <a:r>
              <a:t/>
            </a:r>
            <a:endParaRPr sz="1000">
              <a:solidFill>
                <a:srgbClr val="1A1C1F"/>
              </a:solidFill>
            </a:endParaRPr>
          </a:p>
          <a:p>
            <a:pPr indent="0" lvl="0" marL="0" rtl="0" algn="l">
              <a:spcBef>
                <a:spcPts val="60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3f5a267d72b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4" name="Google Shape;214;g3f5a267d72b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152400" rtl="0" algn="l">
              <a:lnSpc>
                <a:spcPct val="157500"/>
              </a:lnSpc>
              <a:spcBef>
                <a:spcPts val="600"/>
              </a:spcBef>
              <a:spcAft>
                <a:spcPts val="0"/>
              </a:spcAft>
              <a:buNone/>
            </a:pPr>
            <a:r>
              <a:rPr lang="en" sz="1200">
                <a:solidFill>
                  <a:srgbClr val="1A1C1F"/>
                </a:solidFill>
              </a:rPr>
              <a:t>Priority prediction is harder than ticket type, the urgency is often not directly written in the text.</a:t>
            </a:r>
            <a:endParaRPr sz="1200">
              <a:solidFill>
                <a:srgbClr val="1A1C1F"/>
              </a:solidFill>
            </a:endParaRPr>
          </a:p>
          <a:p>
            <a:pPr indent="0" lvl="0" marL="152400" rtl="0" algn="l">
              <a:lnSpc>
                <a:spcPct val="157500"/>
              </a:lnSpc>
              <a:spcBef>
                <a:spcPts val="600"/>
              </a:spcBef>
              <a:spcAft>
                <a:spcPts val="0"/>
              </a:spcAft>
              <a:buNone/>
            </a:pPr>
            <a:r>
              <a:rPr lang="en" sz="1200">
                <a:solidFill>
                  <a:srgbClr val="1A1C1F"/>
                </a:solidFill>
              </a:rPr>
              <a:t>The model gets around 79 percent accuracy and </a:t>
            </a:r>
            <a:r>
              <a:rPr lang="en" sz="1200">
                <a:solidFill>
                  <a:srgbClr val="1A1C1F"/>
                </a:solidFill>
              </a:rPr>
              <a:t>weighted </a:t>
            </a:r>
            <a:r>
              <a:rPr lang="en" sz="1200">
                <a:solidFill>
                  <a:srgbClr val="1A1C1F"/>
                </a:solidFill>
              </a:rPr>
              <a:t>F1.</a:t>
            </a:r>
            <a:endParaRPr sz="1200">
              <a:solidFill>
                <a:srgbClr val="1A1C1F"/>
              </a:solidFill>
            </a:endParaRPr>
          </a:p>
          <a:p>
            <a:pPr indent="0" lvl="0" marL="152400" rtl="0" algn="l">
              <a:lnSpc>
                <a:spcPct val="157500"/>
              </a:lnSpc>
              <a:spcBef>
                <a:spcPts val="600"/>
              </a:spcBef>
              <a:spcAft>
                <a:spcPts val="0"/>
              </a:spcAft>
              <a:buNone/>
            </a:pPr>
            <a:r>
              <a:rPr lang="en" sz="1200">
                <a:solidFill>
                  <a:srgbClr val="1A1C1F"/>
                </a:solidFill>
              </a:rPr>
              <a:t>For high priority, most urgent tickets are recognized correctly. </a:t>
            </a:r>
            <a:endParaRPr sz="1200">
              <a:solidFill>
                <a:srgbClr val="1A1C1F"/>
              </a:solidFill>
            </a:endParaRPr>
          </a:p>
          <a:p>
            <a:pPr indent="0" lvl="0" marL="152400" rtl="0" algn="l">
              <a:lnSpc>
                <a:spcPct val="157500"/>
              </a:lnSpc>
              <a:spcBef>
                <a:spcPts val="600"/>
              </a:spcBef>
              <a:spcAft>
                <a:spcPts val="0"/>
              </a:spcAft>
              <a:buNone/>
            </a:pPr>
            <a:r>
              <a:rPr lang="en" sz="1200">
                <a:solidFill>
                  <a:srgbClr val="1A1C1F"/>
                </a:solidFill>
              </a:rPr>
              <a:t>Some medium or low tickets are predicted as high, this is more acceptable because it only increases workload.</a:t>
            </a:r>
            <a:endParaRPr sz="1200">
              <a:solidFill>
                <a:srgbClr val="1A1C1F"/>
              </a:solidFill>
            </a:endParaRPr>
          </a:p>
          <a:p>
            <a:pPr indent="0" lvl="0" marL="152400" rtl="0" algn="l">
              <a:lnSpc>
                <a:spcPct val="157500"/>
              </a:lnSpc>
              <a:spcBef>
                <a:spcPts val="600"/>
              </a:spcBef>
              <a:spcAft>
                <a:spcPts val="0"/>
              </a:spcAft>
              <a:buNone/>
            </a:pPr>
            <a:r>
              <a:rPr lang="en" sz="1200">
                <a:solidFill>
                  <a:srgbClr val="1A1C1F"/>
                </a:solidFill>
              </a:rPr>
              <a:t>The more risky mistake is when a true high-priority ticket predicted as medium or low.</a:t>
            </a:r>
            <a:endParaRPr sz="1200">
              <a:solidFill>
                <a:srgbClr val="1A1C1F"/>
              </a:solidFill>
            </a:endParaRPr>
          </a:p>
          <a:p>
            <a:pPr indent="0" lvl="0" marL="152400" rtl="0" algn="l">
              <a:lnSpc>
                <a:spcPct val="157500"/>
              </a:lnSpc>
              <a:spcBef>
                <a:spcPts val="600"/>
              </a:spcBef>
              <a:spcAft>
                <a:spcPts val="0"/>
              </a:spcAft>
              <a:buNone/>
            </a:pPr>
            <a:r>
              <a:rPr lang="en" sz="1200">
                <a:solidFill>
                  <a:srgbClr val="1A1C1F"/>
                </a:solidFill>
              </a:rPr>
              <a:t>Especially, high predicted as low is the most dangerous error, because an urgent issue may be delayed.</a:t>
            </a:r>
            <a:endParaRPr sz="1200">
              <a:solidFill>
                <a:srgbClr val="1A1C1F"/>
              </a:solidFill>
            </a:endParaRPr>
          </a:p>
          <a:p>
            <a:pPr indent="0" lvl="0" marL="0" rtl="0" algn="l">
              <a:lnSpc>
                <a:spcPct val="157500"/>
              </a:lnSpc>
              <a:spcBef>
                <a:spcPts val="600"/>
              </a:spcBef>
              <a:spcAft>
                <a:spcPts val="0"/>
              </a:spcAft>
              <a:buClr>
                <a:schemeClr val="dk1"/>
              </a:buClr>
              <a:buSzPts val="1100"/>
              <a:buFont typeface="Arial"/>
              <a:buNone/>
            </a:pPr>
            <a:r>
              <a:rPr lang="en" sz="1200">
                <a:solidFill>
                  <a:srgbClr val="1A1C1F"/>
                </a:solidFill>
              </a:rPr>
              <a:t>   but this dangerous situations are not very frequent (only 59 cases).</a:t>
            </a:r>
            <a:endParaRPr sz="1200">
              <a:solidFill>
                <a:srgbClr val="1A1C1F"/>
              </a:solidFill>
            </a:endParaRPr>
          </a:p>
          <a:p>
            <a:pPr indent="0" lvl="0" marL="0" rtl="0" algn="l">
              <a:lnSpc>
                <a:spcPct val="115000"/>
              </a:lnSpc>
              <a:spcBef>
                <a:spcPts val="60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3f5a267d72b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1" name="Google Shape;221;g3f5a267d72b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152400" rtl="0" algn="l">
              <a:lnSpc>
                <a:spcPct val="157500"/>
              </a:lnSpc>
              <a:spcBef>
                <a:spcPts val="600"/>
              </a:spcBef>
              <a:spcAft>
                <a:spcPts val="0"/>
              </a:spcAft>
              <a:buNone/>
            </a:pPr>
            <a:r>
              <a:rPr lang="en" sz="1200">
                <a:solidFill>
                  <a:srgbClr val="1A1C1F"/>
                </a:solidFill>
              </a:rPr>
              <a:t>Queue prediction is the hardest task in our project.</a:t>
            </a:r>
            <a:endParaRPr sz="1200">
              <a:solidFill>
                <a:srgbClr val="1A1C1F"/>
              </a:solidFill>
            </a:endParaRPr>
          </a:p>
          <a:p>
            <a:pPr indent="0" lvl="0" marL="152400" rtl="0" algn="l">
              <a:lnSpc>
                <a:spcPct val="157500"/>
              </a:lnSpc>
              <a:spcBef>
                <a:spcPts val="600"/>
              </a:spcBef>
              <a:spcAft>
                <a:spcPts val="0"/>
              </a:spcAft>
              <a:buNone/>
            </a:pPr>
            <a:r>
              <a:rPr lang="en" sz="1200">
                <a:solidFill>
                  <a:srgbClr val="1A1C1F"/>
                </a:solidFill>
              </a:rPr>
              <a:t>It has 10 classes, and some queues are similar to each other.</a:t>
            </a:r>
            <a:endParaRPr sz="1200">
              <a:solidFill>
                <a:srgbClr val="1A1C1F"/>
              </a:solidFill>
            </a:endParaRPr>
          </a:p>
          <a:p>
            <a:pPr indent="0" lvl="0" marL="152400" rtl="0" algn="l">
              <a:lnSpc>
                <a:spcPct val="157500"/>
              </a:lnSpc>
              <a:spcBef>
                <a:spcPts val="600"/>
              </a:spcBef>
              <a:spcAft>
                <a:spcPts val="0"/>
              </a:spcAft>
              <a:buNone/>
            </a:pPr>
            <a:r>
              <a:rPr lang="en" sz="1200">
                <a:solidFill>
                  <a:srgbClr val="1A1C1F"/>
                </a:solidFill>
              </a:rPr>
              <a:t>Even so, our model still gets 75 percent </a:t>
            </a:r>
            <a:r>
              <a:rPr lang="en" sz="1200">
                <a:solidFill>
                  <a:srgbClr val="1A1C1F"/>
                </a:solidFill>
              </a:rPr>
              <a:t>accuracy</a:t>
            </a:r>
            <a:r>
              <a:rPr lang="en" sz="1200">
                <a:solidFill>
                  <a:srgbClr val="1A1C1F"/>
                </a:solidFill>
              </a:rPr>
              <a:t> and weighted F1, which is already a pretty strong result.</a:t>
            </a:r>
            <a:endParaRPr sz="1200">
              <a:solidFill>
                <a:srgbClr val="1A1C1F"/>
              </a:solidFill>
            </a:endParaRPr>
          </a:p>
          <a:p>
            <a:pPr indent="0" lvl="0" marL="152400" rtl="0" algn="l">
              <a:lnSpc>
                <a:spcPct val="157500"/>
              </a:lnSpc>
              <a:spcBef>
                <a:spcPts val="600"/>
              </a:spcBef>
              <a:spcAft>
                <a:spcPts val="0"/>
              </a:spcAft>
              <a:buNone/>
            </a:pPr>
            <a:r>
              <a:rPr lang="en" sz="1200">
                <a:solidFill>
                  <a:srgbClr val="1A1C1F"/>
                </a:solidFill>
              </a:rPr>
              <a:t>Most of the mistakes is between similar queues, such as Technical Support</a:t>
            </a:r>
            <a:r>
              <a:rPr lang="en" sz="1200">
                <a:solidFill>
                  <a:srgbClr val="1A1C1F"/>
                </a:solidFill>
              </a:rPr>
              <a:t>, Product Support,</a:t>
            </a:r>
            <a:r>
              <a:rPr lang="en" sz="1200">
                <a:solidFill>
                  <a:srgbClr val="1A1C1F"/>
                </a:solidFill>
              </a:rPr>
              <a:t> and IT Support.</a:t>
            </a:r>
            <a:endParaRPr sz="1200">
              <a:solidFill>
                <a:srgbClr val="1A1C1F"/>
              </a:solidFill>
            </a:endParaRPr>
          </a:p>
          <a:p>
            <a:pPr indent="0" lvl="0" marL="152400" rtl="0" algn="l">
              <a:lnSpc>
                <a:spcPct val="157500"/>
              </a:lnSpc>
              <a:spcBef>
                <a:spcPts val="600"/>
              </a:spcBef>
              <a:spcAft>
                <a:spcPts val="0"/>
              </a:spcAft>
              <a:buClr>
                <a:schemeClr val="dk1"/>
              </a:buClr>
              <a:buSzPts val="1100"/>
              <a:buFont typeface="Arial"/>
              <a:buNone/>
            </a:pPr>
            <a:r>
              <a:rPr lang="en" sz="1200">
                <a:solidFill>
                  <a:srgbClr val="1A1C1F"/>
                </a:solidFill>
              </a:rPr>
              <a:t>Also, queue routing is subjective even for human agents, so this level of performance is still very encouraging.</a:t>
            </a:r>
            <a:endParaRPr sz="1200">
              <a:solidFill>
                <a:srgbClr val="1A1C1F"/>
              </a:solidFill>
            </a:endParaRPr>
          </a:p>
          <a:p>
            <a:pPr indent="0" lvl="0" marL="0" rtl="0" algn="l">
              <a:lnSpc>
                <a:spcPct val="115000"/>
              </a:lnSpc>
              <a:spcBef>
                <a:spcPts val="60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3f5a267d72b_0_2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28" name="Google Shape;228;g3f5a267d72b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Here, we make a small demo for our project.</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c6f90357f_0_41: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33" name="Google Shape;233;gc6f90357f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sp>
        <p:nvSpPr>
          <p:cNvPr id="10" name="Google Shape;10;p2"/>
          <p:cNvSpPr/>
          <p:nvPr/>
        </p:nvSpPr>
        <p:spPr>
          <a:xfrm>
            <a:off x="0" y="100"/>
            <a:ext cx="9144000" cy="1711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1" name="Google Shape;11;p2"/>
          <p:cNvCxnSpPr/>
          <p:nvPr/>
        </p:nvCxnSpPr>
        <p:spPr>
          <a:xfrm>
            <a:off x="641934" y="3597500"/>
            <a:ext cx="390300" cy="0"/>
          </a:xfrm>
          <a:prstGeom prst="straightConnector1">
            <a:avLst/>
          </a:prstGeom>
          <a:noFill/>
          <a:ln cap="flat" cmpd="sng" w="28575">
            <a:solidFill>
              <a:schemeClr val="accent1"/>
            </a:solidFill>
            <a:prstDash val="solid"/>
            <a:round/>
            <a:headEnd len="sm" w="sm" type="none"/>
            <a:tailEnd len="sm" w="sm" type="none"/>
          </a:ln>
        </p:spPr>
      </p:cxnSp>
      <p:sp>
        <p:nvSpPr>
          <p:cNvPr id="12" name="Google Shape;12;p2"/>
          <p:cNvSpPr txBox="1"/>
          <p:nvPr>
            <p:ph type="ctrTitle"/>
          </p:nvPr>
        </p:nvSpPr>
        <p:spPr>
          <a:xfrm>
            <a:off x="512700" y="1893300"/>
            <a:ext cx="8118600" cy="1522800"/>
          </a:xfrm>
          <a:prstGeom prst="rect">
            <a:avLst/>
          </a:prstGeom>
        </p:spPr>
        <p:txBody>
          <a:bodyPr anchorCtr="0" anchor="b" bIns="91425" lIns="91425" spcFirstLastPara="1" rIns="91425" wrap="square" tIns="91425">
            <a:noAutofit/>
          </a:bodyPr>
          <a:lstStyle>
            <a:lvl1pPr lvl="0">
              <a:spcBef>
                <a:spcPts val="0"/>
              </a:spcBef>
              <a:spcAft>
                <a:spcPts val="0"/>
              </a:spcAft>
              <a:buClr>
                <a:schemeClr val="accent1"/>
              </a:buClr>
              <a:buSzPts val="4200"/>
              <a:buNone/>
              <a:defRPr sz="4200">
                <a:solidFill>
                  <a:schemeClr val="accent1"/>
                </a:solidFill>
              </a:defRPr>
            </a:lvl1pPr>
            <a:lvl2pPr lvl="1">
              <a:spcBef>
                <a:spcPts val="0"/>
              </a:spcBef>
              <a:spcAft>
                <a:spcPts val="0"/>
              </a:spcAft>
              <a:buClr>
                <a:schemeClr val="accent1"/>
              </a:buClr>
              <a:buSzPts val="4200"/>
              <a:buNone/>
              <a:defRPr sz="4200">
                <a:solidFill>
                  <a:schemeClr val="accent1"/>
                </a:solidFill>
              </a:defRPr>
            </a:lvl2pPr>
            <a:lvl3pPr lvl="2">
              <a:spcBef>
                <a:spcPts val="0"/>
              </a:spcBef>
              <a:spcAft>
                <a:spcPts val="0"/>
              </a:spcAft>
              <a:buClr>
                <a:schemeClr val="accent1"/>
              </a:buClr>
              <a:buSzPts val="4200"/>
              <a:buNone/>
              <a:defRPr sz="4200">
                <a:solidFill>
                  <a:schemeClr val="accent1"/>
                </a:solidFill>
              </a:defRPr>
            </a:lvl3pPr>
            <a:lvl4pPr lvl="3">
              <a:spcBef>
                <a:spcPts val="0"/>
              </a:spcBef>
              <a:spcAft>
                <a:spcPts val="0"/>
              </a:spcAft>
              <a:buClr>
                <a:schemeClr val="accent1"/>
              </a:buClr>
              <a:buSzPts val="4200"/>
              <a:buNone/>
              <a:defRPr sz="4200">
                <a:solidFill>
                  <a:schemeClr val="accent1"/>
                </a:solidFill>
              </a:defRPr>
            </a:lvl4pPr>
            <a:lvl5pPr lvl="4">
              <a:spcBef>
                <a:spcPts val="0"/>
              </a:spcBef>
              <a:spcAft>
                <a:spcPts val="0"/>
              </a:spcAft>
              <a:buClr>
                <a:schemeClr val="accent1"/>
              </a:buClr>
              <a:buSzPts val="4200"/>
              <a:buNone/>
              <a:defRPr sz="4200">
                <a:solidFill>
                  <a:schemeClr val="accent1"/>
                </a:solidFill>
              </a:defRPr>
            </a:lvl5pPr>
            <a:lvl6pPr lvl="5">
              <a:spcBef>
                <a:spcPts val="0"/>
              </a:spcBef>
              <a:spcAft>
                <a:spcPts val="0"/>
              </a:spcAft>
              <a:buClr>
                <a:schemeClr val="accent1"/>
              </a:buClr>
              <a:buSzPts val="4200"/>
              <a:buNone/>
              <a:defRPr sz="4200">
                <a:solidFill>
                  <a:schemeClr val="accent1"/>
                </a:solidFill>
              </a:defRPr>
            </a:lvl6pPr>
            <a:lvl7pPr lvl="6">
              <a:spcBef>
                <a:spcPts val="0"/>
              </a:spcBef>
              <a:spcAft>
                <a:spcPts val="0"/>
              </a:spcAft>
              <a:buClr>
                <a:schemeClr val="accent1"/>
              </a:buClr>
              <a:buSzPts val="4200"/>
              <a:buNone/>
              <a:defRPr sz="4200">
                <a:solidFill>
                  <a:schemeClr val="accent1"/>
                </a:solidFill>
              </a:defRPr>
            </a:lvl7pPr>
            <a:lvl8pPr lvl="7">
              <a:spcBef>
                <a:spcPts val="0"/>
              </a:spcBef>
              <a:spcAft>
                <a:spcPts val="0"/>
              </a:spcAft>
              <a:buClr>
                <a:schemeClr val="accent1"/>
              </a:buClr>
              <a:buSzPts val="4200"/>
              <a:buNone/>
              <a:defRPr sz="4200">
                <a:solidFill>
                  <a:schemeClr val="accent1"/>
                </a:solidFill>
              </a:defRPr>
            </a:lvl8pPr>
            <a:lvl9pPr lvl="8">
              <a:spcBef>
                <a:spcPts val="0"/>
              </a:spcBef>
              <a:spcAft>
                <a:spcPts val="0"/>
              </a:spcAft>
              <a:buClr>
                <a:schemeClr val="accent1"/>
              </a:buClr>
              <a:buSzPts val="4200"/>
              <a:buNone/>
              <a:defRPr sz="4200">
                <a:solidFill>
                  <a:schemeClr val="accent1"/>
                </a:solidFill>
              </a:defRPr>
            </a:lvl9pPr>
          </a:lstStyle>
          <a:p/>
        </p:txBody>
      </p:sp>
      <p:sp>
        <p:nvSpPr>
          <p:cNvPr id="13" name="Google Shape;13;p2"/>
          <p:cNvSpPr txBox="1"/>
          <p:nvPr>
            <p:ph idx="1" type="subTitle"/>
          </p:nvPr>
        </p:nvSpPr>
        <p:spPr>
          <a:xfrm>
            <a:off x="512700" y="3840639"/>
            <a:ext cx="8118600" cy="787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accent2"/>
              </a:buClr>
              <a:buSzPts val="2400"/>
              <a:buNone/>
              <a:defRPr sz="2400">
                <a:solidFill>
                  <a:schemeClr val="accent2"/>
                </a:solidFill>
              </a:defRPr>
            </a:lvl1pPr>
            <a:lvl2pPr lvl="1">
              <a:lnSpc>
                <a:spcPct val="100000"/>
              </a:lnSpc>
              <a:spcBef>
                <a:spcPts val="0"/>
              </a:spcBef>
              <a:spcAft>
                <a:spcPts val="0"/>
              </a:spcAft>
              <a:buClr>
                <a:schemeClr val="accent2"/>
              </a:buClr>
              <a:buSzPts val="2400"/>
              <a:buNone/>
              <a:defRPr sz="2400">
                <a:solidFill>
                  <a:schemeClr val="accent2"/>
                </a:solidFill>
              </a:defRPr>
            </a:lvl2pPr>
            <a:lvl3pPr lvl="2">
              <a:lnSpc>
                <a:spcPct val="100000"/>
              </a:lnSpc>
              <a:spcBef>
                <a:spcPts val="0"/>
              </a:spcBef>
              <a:spcAft>
                <a:spcPts val="0"/>
              </a:spcAft>
              <a:buClr>
                <a:schemeClr val="accent2"/>
              </a:buClr>
              <a:buSzPts val="2400"/>
              <a:buNone/>
              <a:defRPr sz="2400">
                <a:solidFill>
                  <a:schemeClr val="accent2"/>
                </a:solidFill>
              </a:defRPr>
            </a:lvl3pPr>
            <a:lvl4pPr lvl="3">
              <a:lnSpc>
                <a:spcPct val="100000"/>
              </a:lnSpc>
              <a:spcBef>
                <a:spcPts val="0"/>
              </a:spcBef>
              <a:spcAft>
                <a:spcPts val="0"/>
              </a:spcAft>
              <a:buClr>
                <a:schemeClr val="accent2"/>
              </a:buClr>
              <a:buSzPts val="2400"/>
              <a:buNone/>
              <a:defRPr sz="2400">
                <a:solidFill>
                  <a:schemeClr val="accent2"/>
                </a:solidFill>
              </a:defRPr>
            </a:lvl4pPr>
            <a:lvl5pPr lvl="4">
              <a:lnSpc>
                <a:spcPct val="100000"/>
              </a:lnSpc>
              <a:spcBef>
                <a:spcPts val="0"/>
              </a:spcBef>
              <a:spcAft>
                <a:spcPts val="0"/>
              </a:spcAft>
              <a:buClr>
                <a:schemeClr val="accent2"/>
              </a:buClr>
              <a:buSzPts val="2400"/>
              <a:buNone/>
              <a:defRPr sz="2400">
                <a:solidFill>
                  <a:schemeClr val="accent2"/>
                </a:solidFill>
              </a:defRPr>
            </a:lvl5pPr>
            <a:lvl6pPr lvl="5">
              <a:lnSpc>
                <a:spcPct val="100000"/>
              </a:lnSpc>
              <a:spcBef>
                <a:spcPts val="0"/>
              </a:spcBef>
              <a:spcAft>
                <a:spcPts val="0"/>
              </a:spcAft>
              <a:buClr>
                <a:schemeClr val="accent2"/>
              </a:buClr>
              <a:buSzPts val="2400"/>
              <a:buNone/>
              <a:defRPr sz="2400">
                <a:solidFill>
                  <a:schemeClr val="accent2"/>
                </a:solidFill>
              </a:defRPr>
            </a:lvl6pPr>
            <a:lvl7pPr lvl="6">
              <a:lnSpc>
                <a:spcPct val="100000"/>
              </a:lnSpc>
              <a:spcBef>
                <a:spcPts val="0"/>
              </a:spcBef>
              <a:spcAft>
                <a:spcPts val="0"/>
              </a:spcAft>
              <a:buClr>
                <a:schemeClr val="accent2"/>
              </a:buClr>
              <a:buSzPts val="2400"/>
              <a:buNone/>
              <a:defRPr sz="2400">
                <a:solidFill>
                  <a:schemeClr val="accent2"/>
                </a:solidFill>
              </a:defRPr>
            </a:lvl7pPr>
            <a:lvl8pPr lvl="7">
              <a:lnSpc>
                <a:spcPct val="100000"/>
              </a:lnSpc>
              <a:spcBef>
                <a:spcPts val="0"/>
              </a:spcBef>
              <a:spcAft>
                <a:spcPts val="0"/>
              </a:spcAft>
              <a:buClr>
                <a:schemeClr val="accent2"/>
              </a:buClr>
              <a:buSzPts val="2400"/>
              <a:buNone/>
              <a:defRPr sz="2400">
                <a:solidFill>
                  <a:schemeClr val="accent2"/>
                </a:solidFill>
              </a:defRPr>
            </a:lvl8pPr>
            <a:lvl9pPr lvl="8">
              <a:lnSpc>
                <a:spcPct val="100000"/>
              </a:lnSpc>
              <a:spcBef>
                <a:spcPts val="0"/>
              </a:spcBef>
              <a:spcAft>
                <a:spcPts val="0"/>
              </a:spcAft>
              <a:buClr>
                <a:schemeClr val="accent2"/>
              </a:buClr>
              <a:buSzPts val="2400"/>
              <a:buNone/>
              <a:defRPr sz="2400">
                <a:solidFill>
                  <a:schemeClr val="accent2"/>
                </a:solidFill>
              </a:defRPr>
            </a:lvl9pPr>
          </a:lstStyle>
          <a:p/>
        </p:txBody>
      </p:sp>
      <p:sp>
        <p:nvSpPr>
          <p:cNvPr id="14" name="Google Shape;14;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5" name="Shape 15"/>
        <p:cNvGrpSpPr/>
        <p:nvPr/>
      </p:nvGrpSpPr>
      <p:grpSpPr>
        <a:xfrm>
          <a:off x="0" y="0"/>
          <a:ext cx="0" cy="0"/>
          <a:chOff x="0" y="0"/>
          <a:chExt cx="0" cy="0"/>
        </a:xfrm>
      </p:grpSpPr>
      <p:cxnSp>
        <p:nvCxnSpPr>
          <p:cNvPr id="16" name="Google Shape;16;p3"/>
          <p:cNvCxnSpPr/>
          <p:nvPr/>
        </p:nvCxnSpPr>
        <p:spPr>
          <a:xfrm>
            <a:off x="641934" y="3597500"/>
            <a:ext cx="390300" cy="0"/>
          </a:xfrm>
          <a:prstGeom prst="straightConnector1">
            <a:avLst/>
          </a:prstGeom>
          <a:noFill/>
          <a:ln cap="flat" cmpd="sng" w="28575">
            <a:solidFill>
              <a:schemeClr val="lt2"/>
            </a:solidFill>
            <a:prstDash val="solid"/>
            <a:round/>
            <a:headEnd len="sm" w="sm" type="none"/>
            <a:tailEnd len="sm" w="sm" type="none"/>
          </a:ln>
        </p:spPr>
      </p:cxnSp>
      <p:sp>
        <p:nvSpPr>
          <p:cNvPr id="17" name="Google Shape;17;p3"/>
          <p:cNvSpPr txBox="1"/>
          <p:nvPr>
            <p:ph type="title"/>
          </p:nvPr>
        </p:nvSpPr>
        <p:spPr>
          <a:xfrm>
            <a:off x="512700" y="1893300"/>
            <a:ext cx="8118600" cy="1522800"/>
          </a:xfrm>
          <a:prstGeom prst="rect">
            <a:avLst/>
          </a:prstGeom>
        </p:spPr>
        <p:txBody>
          <a:bodyPr anchorCtr="0" anchor="b" bIns="91425" lIns="91425" spcFirstLastPara="1" rIns="91425" wrap="square" tIns="91425">
            <a:noAutofit/>
          </a:bodyPr>
          <a:lstStyle>
            <a:lvl1pPr lvl="0">
              <a:spcBef>
                <a:spcPts val="0"/>
              </a:spcBef>
              <a:spcAft>
                <a:spcPts val="0"/>
              </a:spcAft>
              <a:buClr>
                <a:schemeClr val="accent1"/>
              </a:buClr>
              <a:buSzPts val="6000"/>
              <a:buNone/>
              <a:defRPr sz="6000">
                <a:solidFill>
                  <a:schemeClr val="accent1"/>
                </a:solidFill>
              </a:defRPr>
            </a:lvl1pPr>
            <a:lvl2pPr lvl="1">
              <a:spcBef>
                <a:spcPts val="0"/>
              </a:spcBef>
              <a:spcAft>
                <a:spcPts val="0"/>
              </a:spcAft>
              <a:buClr>
                <a:schemeClr val="accent1"/>
              </a:buClr>
              <a:buSzPts val="6000"/>
              <a:buNone/>
              <a:defRPr sz="6000">
                <a:solidFill>
                  <a:schemeClr val="accent1"/>
                </a:solidFill>
              </a:defRPr>
            </a:lvl2pPr>
            <a:lvl3pPr lvl="2">
              <a:spcBef>
                <a:spcPts val="0"/>
              </a:spcBef>
              <a:spcAft>
                <a:spcPts val="0"/>
              </a:spcAft>
              <a:buClr>
                <a:schemeClr val="accent1"/>
              </a:buClr>
              <a:buSzPts val="6000"/>
              <a:buNone/>
              <a:defRPr sz="6000">
                <a:solidFill>
                  <a:schemeClr val="accent1"/>
                </a:solidFill>
              </a:defRPr>
            </a:lvl3pPr>
            <a:lvl4pPr lvl="3">
              <a:spcBef>
                <a:spcPts val="0"/>
              </a:spcBef>
              <a:spcAft>
                <a:spcPts val="0"/>
              </a:spcAft>
              <a:buClr>
                <a:schemeClr val="accent1"/>
              </a:buClr>
              <a:buSzPts val="6000"/>
              <a:buNone/>
              <a:defRPr sz="6000">
                <a:solidFill>
                  <a:schemeClr val="accent1"/>
                </a:solidFill>
              </a:defRPr>
            </a:lvl4pPr>
            <a:lvl5pPr lvl="4">
              <a:spcBef>
                <a:spcPts val="0"/>
              </a:spcBef>
              <a:spcAft>
                <a:spcPts val="0"/>
              </a:spcAft>
              <a:buClr>
                <a:schemeClr val="accent1"/>
              </a:buClr>
              <a:buSzPts val="6000"/>
              <a:buNone/>
              <a:defRPr sz="6000">
                <a:solidFill>
                  <a:schemeClr val="accent1"/>
                </a:solidFill>
              </a:defRPr>
            </a:lvl5pPr>
            <a:lvl6pPr lvl="5">
              <a:spcBef>
                <a:spcPts val="0"/>
              </a:spcBef>
              <a:spcAft>
                <a:spcPts val="0"/>
              </a:spcAft>
              <a:buClr>
                <a:schemeClr val="accent1"/>
              </a:buClr>
              <a:buSzPts val="6000"/>
              <a:buNone/>
              <a:defRPr sz="6000">
                <a:solidFill>
                  <a:schemeClr val="accent1"/>
                </a:solidFill>
              </a:defRPr>
            </a:lvl6pPr>
            <a:lvl7pPr lvl="6">
              <a:spcBef>
                <a:spcPts val="0"/>
              </a:spcBef>
              <a:spcAft>
                <a:spcPts val="0"/>
              </a:spcAft>
              <a:buClr>
                <a:schemeClr val="accent1"/>
              </a:buClr>
              <a:buSzPts val="6000"/>
              <a:buNone/>
              <a:defRPr sz="6000">
                <a:solidFill>
                  <a:schemeClr val="accent1"/>
                </a:solidFill>
              </a:defRPr>
            </a:lvl7pPr>
            <a:lvl8pPr lvl="7">
              <a:spcBef>
                <a:spcPts val="0"/>
              </a:spcBef>
              <a:spcAft>
                <a:spcPts val="0"/>
              </a:spcAft>
              <a:buClr>
                <a:schemeClr val="accent1"/>
              </a:buClr>
              <a:buSzPts val="6000"/>
              <a:buNone/>
              <a:defRPr sz="6000">
                <a:solidFill>
                  <a:schemeClr val="accent1"/>
                </a:solidFill>
              </a:defRPr>
            </a:lvl8pPr>
            <a:lvl9pPr lvl="8">
              <a:spcBef>
                <a:spcPts val="0"/>
              </a:spcBef>
              <a:spcAft>
                <a:spcPts val="0"/>
              </a:spcAft>
              <a:buClr>
                <a:schemeClr val="accent1"/>
              </a:buClr>
              <a:buSzPts val="6000"/>
              <a:buNone/>
              <a:defRPr sz="6000">
                <a:solidFill>
                  <a:schemeClr val="accent1"/>
                </a:solidFill>
              </a:defRPr>
            </a:lvl9pPr>
          </a:lstStyle>
          <a:p/>
        </p:txBody>
      </p:sp>
      <p:sp>
        <p:nvSpPr>
          <p:cNvPr id="18" name="Google Shape;18;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sp>
        <p:nvSpPr>
          <p:cNvPr id="20" name="Google Shape;20;p4"/>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2" name="Google Shape;22;p4"/>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23" name="Google Shape;23;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5"/>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6" name="Google Shape;26;p5"/>
          <p:cNvSpPr txBox="1"/>
          <p:nvPr>
            <p:ph idx="1" type="body"/>
          </p:nvPr>
        </p:nvSpPr>
        <p:spPr>
          <a:xfrm>
            <a:off x="311700" y="1171675"/>
            <a:ext cx="3999900" cy="3397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7" name="Google Shape;27;p5"/>
          <p:cNvSpPr txBox="1"/>
          <p:nvPr>
            <p:ph idx="2" type="body"/>
          </p:nvPr>
        </p:nvSpPr>
        <p:spPr>
          <a:xfrm>
            <a:off x="4832400" y="1171675"/>
            <a:ext cx="3999900" cy="3397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8" name="Google Shape;28;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p6"/>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1" name="Google Shape;31;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2" name="Shape 32"/>
        <p:cNvGrpSpPr/>
        <p:nvPr/>
      </p:nvGrpSpPr>
      <p:grpSpPr>
        <a:xfrm>
          <a:off x="0" y="0"/>
          <a:ext cx="0" cy="0"/>
          <a:chOff x="0" y="0"/>
          <a:chExt cx="0" cy="0"/>
        </a:xfrm>
      </p:grpSpPr>
      <p:sp>
        <p:nvSpPr>
          <p:cNvPr id="33" name="Google Shape;33;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4" name="Google Shape;34;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5" name="Google Shape;35;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36" name="Shape 36"/>
        <p:cNvGrpSpPr/>
        <p:nvPr/>
      </p:nvGrpSpPr>
      <p:grpSpPr>
        <a:xfrm>
          <a:off x="0" y="0"/>
          <a:ext cx="0" cy="0"/>
          <a:chOff x="0" y="0"/>
          <a:chExt cx="0" cy="0"/>
        </a:xfrm>
      </p:grpSpPr>
      <p:sp>
        <p:nvSpPr>
          <p:cNvPr id="37" name="Google Shape;37;p8"/>
          <p:cNvSpPr txBox="1"/>
          <p:nvPr>
            <p:ph type="title"/>
          </p:nvPr>
        </p:nvSpPr>
        <p:spPr>
          <a:xfrm>
            <a:off x="490250" y="526350"/>
            <a:ext cx="5604000" cy="4090800"/>
          </a:xfrm>
          <a:prstGeom prst="rect">
            <a:avLst/>
          </a:prstGeom>
        </p:spPr>
        <p:txBody>
          <a:bodyPr anchorCtr="0" anchor="ctr" bIns="91425" lIns="91425" spcFirstLastPara="1" rIns="91425" wrap="square" tIns="91425">
            <a:noAutofit/>
          </a:bodyPr>
          <a:lstStyle>
            <a:lvl1pPr lvl="0">
              <a:spcBef>
                <a:spcPts val="0"/>
              </a:spcBef>
              <a:spcAft>
                <a:spcPts val="0"/>
              </a:spcAft>
              <a:buClr>
                <a:schemeClr val="accent1"/>
              </a:buClr>
              <a:buSzPts val="5400"/>
              <a:buNone/>
              <a:defRPr sz="5400">
                <a:solidFill>
                  <a:schemeClr val="accent1"/>
                </a:solidFill>
              </a:defRPr>
            </a:lvl1pPr>
            <a:lvl2pPr lvl="1">
              <a:spcBef>
                <a:spcPts val="0"/>
              </a:spcBef>
              <a:spcAft>
                <a:spcPts val="0"/>
              </a:spcAft>
              <a:buClr>
                <a:schemeClr val="accent1"/>
              </a:buClr>
              <a:buSzPts val="5400"/>
              <a:buNone/>
              <a:defRPr sz="5400">
                <a:solidFill>
                  <a:schemeClr val="accent1"/>
                </a:solidFill>
              </a:defRPr>
            </a:lvl2pPr>
            <a:lvl3pPr lvl="2">
              <a:spcBef>
                <a:spcPts val="0"/>
              </a:spcBef>
              <a:spcAft>
                <a:spcPts val="0"/>
              </a:spcAft>
              <a:buClr>
                <a:schemeClr val="accent1"/>
              </a:buClr>
              <a:buSzPts val="5400"/>
              <a:buNone/>
              <a:defRPr sz="5400">
                <a:solidFill>
                  <a:schemeClr val="accent1"/>
                </a:solidFill>
              </a:defRPr>
            </a:lvl3pPr>
            <a:lvl4pPr lvl="3">
              <a:spcBef>
                <a:spcPts val="0"/>
              </a:spcBef>
              <a:spcAft>
                <a:spcPts val="0"/>
              </a:spcAft>
              <a:buClr>
                <a:schemeClr val="accent1"/>
              </a:buClr>
              <a:buSzPts val="5400"/>
              <a:buNone/>
              <a:defRPr sz="5400">
                <a:solidFill>
                  <a:schemeClr val="accent1"/>
                </a:solidFill>
              </a:defRPr>
            </a:lvl4pPr>
            <a:lvl5pPr lvl="4">
              <a:spcBef>
                <a:spcPts val="0"/>
              </a:spcBef>
              <a:spcAft>
                <a:spcPts val="0"/>
              </a:spcAft>
              <a:buClr>
                <a:schemeClr val="accent1"/>
              </a:buClr>
              <a:buSzPts val="5400"/>
              <a:buNone/>
              <a:defRPr sz="5400">
                <a:solidFill>
                  <a:schemeClr val="accent1"/>
                </a:solidFill>
              </a:defRPr>
            </a:lvl5pPr>
            <a:lvl6pPr lvl="5">
              <a:spcBef>
                <a:spcPts val="0"/>
              </a:spcBef>
              <a:spcAft>
                <a:spcPts val="0"/>
              </a:spcAft>
              <a:buClr>
                <a:schemeClr val="accent1"/>
              </a:buClr>
              <a:buSzPts val="5400"/>
              <a:buNone/>
              <a:defRPr sz="5400">
                <a:solidFill>
                  <a:schemeClr val="accent1"/>
                </a:solidFill>
              </a:defRPr>
            </a:lvl6pPr>
            <a:lvl7pPr lvl="6">
              <a:spcBef>
                <a:spcPts val="0"/>
              </a:spcBef>
              <a:spcAft>
                <a:spcPts val="0"/>
              </a:spcAft>
              <a:buClr>
                <a:schemeClr val="accent1"/>
              </a:buClr>
              <a:buSzPts val="5400"/>
              <a:buNone/>
              <a:defRPr sz="5400">
                <a:solidFill>
                  <a:schemeClr val="accent1"/>
                </a:solidFill>
              </a:defRPr>
            </a:lvl7pPr>
            <a:lvl8pPr lvl="7">
              <a:spcBef>
                <a:spcPts val="0"/>
              </a:spcBef>
              <a:spcAft>
                <a:spcPts val="0"/>
              </a:spcAft>
              <a:buClr>
                <a:schemeClr val="accent1"/>
              </a:buClr>
              <a:buSzPts val="5400"/>
              <a:buNone/>
              <a:defRPr sz="5400">
                <a:solidFill>
                  <a:schemeClr val="accent1"/>
                </a:solidFill>
              </a:defRPr>
            </a:lvl8pPr>
            <a:lvl9pPr lvl="8">
              <a:spcBef>
                <a:spcPts val="0"/>
              </a:spcBef>
              <a:spcAft>
                <a:spcPts val="0"/>
              </a:spcAft>
              <a:buClr>
                <a:schemeClr val="accent1"/>
              </a:buClr>
              <a:buSzPts val="5400"/>
              <a:buNone/>
              <a:defRPr sz="5400">
                <a:solidFill>
                  <a:schemeClr val="accent1"/>
                </a:solidFill>
              </a:defRPr>
            </a:lvl9pPr>
          </a:lstStyle>
          <a:p/>
        </p:txBody>
      </p:sp>
      <p:sp>
        <p:nvSpPr>
          <p:cNvPr id="38" name="Google Shape;38;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9" name="Shape 39"/>
        <p:cNvGrpSpPr/>
        <p:nvPr/>
      </p:nvGrpSpPr>
      <p:grpSpPr>
        <a:xfrm>
          <a:off x="0" y="0"/>
          <a:ext cx="0" cy="0"/>
          <a:chOff x="0" y="0"/>
          <a:chExt cx="0" cy="0"/>
        </a:xfrm>
      </p:grpSpPr>
      <p:sp>
        <p:nvSpPr>
          <p:cNvPr id="40" name="Google Shape;40;p9"/>
          <p:cNvSpPr/>
          <p:nvPr/>
        </p:nvSpPr>
        <p:spPr>
          <a:xfrm>
            <a:off x="4572000" y="-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1" name="Google Shape;41;p9"/>
          <p:cNvCxnSpPr/>
          <p:nvPr/>
        </p:nvCxnSpPr>
        <p:spPr>
          <a:xfrm>
            <a:off x="5029675" y="4495500"/>
            <a:ext cx="686400" cy="0"/>
          </a:xfrm>
          <a:prstGeom prst="straightConnector1">
            <a:avLst/>
          </a:prstGeom>
          <a:noFill/>
          <a:ln cap="flat" cmpd="sng" w="19050">
            <a:solidFill>
              <a:schemeClr val="lt2"/>
            </a:solidFill>
            <a:prstDash val="solid"/>
            <a:round/>
            <a:headEnd len="sm" w="sm" type="none"/>
            <a:tailEnd len="sm" w="sm" type="none"/>
          </a:ln>
        </p:spPr>
      </p:cxnSp>
      <p:sp>
        <p:nvSpPr>
          <p:cNvPr id="42" name="Google Shape;42;p9"/>
          <p:cNvSpPr txBox="1"/>
          <p:nvPr>
            <p:ph type="title"/>
          </p:nvPr>
        </p:nvSpPr>
        <p:spPr>
          <a:xfrm>
            <a:off x="265500" y="1382350"/>
            <a:ext cx="4045200" cy="13332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lt2"/>
              </a:buClr>
              <a:buSzPts val="4200"/>
              <a:buNone/>
              <a:defRPr sz="4200">
                <a:solidFill>
                  <a:schemeClr val="lt2"/>
                </a:solidFill>
              </a:defRPr>
            </a:lvl1pPr>
            <a:lvl2pPr lvl="1" algn="ctr">
              <a:spcBef>
                <a:spcPts val="0"/>
              </a:spcBef>
              <a:spcAft>
                <a:spcPts val="0"/>
              </a:spcAft>
              <a:buClr>
                <a:schemeClr val="lt2"/>
              </a:buClr>
              <a:buSzPts val="4200"/>
              <a:buNone/>
              <a:defRPr sz="4200">
                <a:solidFill>
                  <a:schemeClr val="lt2"/>
                </a:solidFill>
              </a:defRPr>
            </a:lvl2pPr>
            <a:lvl3pPr lvl="2" algn="ctr">
              <a:spcBef>
                <a:spcPts val="0"/>
              </a:spcBef>
              <a:spcAft>
                <a:spcPts val="0"/>
              </a:spcAft>
              <a:buClr>
                <a:schemeClr val="lt2"/>
              </a:buClr>
              <a:buSzPts val="4200"/>
              <a:buNone/>
              <a:defRPr sz="4200">
                <a:solidFill>
                  <a:schemeClr val="lt2"/>
                </a:solidFill>
              </a:defRPr>
            </a:lvl3pPr>
            <a:lvl4pPr lvl="3" algn="ctr">
              <a:spcBef>
                <a:spcPts val="0"/>
              </a:spcBef>
              <a:spcAft>
                <a:spcPts val="0"/>
              </a:spcAft>
              <a:buClr>
                <a:schemeClr val="lt2"/>
              </a:buClr>
              <a:buSzPts val="4200"/>
              <a:buNone/>
              <a:defRPr sz="4200">
                <a:solidFill>
                  <a:schemeClr val="lt2"/>
                </a:solidFill>
              </a:defRPr>
            </a:lvl4pPr>
            <a:lvl5pPr lvl="4" algn="ctr">
              <a:spcBef>
                <a:spcPts val="0"/>
              </a:spcBef>
              <a:spcAft>
                <a:spcPts val="0"/>
              </a:spcAft>
              <a:buClr>
                <a:schemeClr val="lt2"/>
              </a:buClr>
              <a:buSzPts val="4200"/>
              <a:buNone/>
              <a:defRPr sz="4200">
                <a:solidFill>
                  <a:schemeClr val="lt2"/>
                </a:solidFill>
              </a:defRPr>
            </a:lvl5pPr>
            <a:lvl6pPr lvl="5" algn="ctr">
              <a:spcBef>
                <a:spcPts val="0"/>
              </a:spcBef>
              <a:spcAft>
                <a:spcPts val="0"/>
              </a:spcAft>
              <a:buClr>
                <a:schemeClr val="lt2"/>
              </a:buClr>
              <a:buSzPts val="4200"/>
              <a:buNone/>
              <a:defRPr sz="4200">
                <a:solidFill>
                  <a:schemeClr val="lt2"/>
                </a:solidFill>
              </a:defRPr>
            </a:lvl6pPr>
            <a:lvl7pPr lvl="6" algn="ctr">
              <a:spcBef>
                <a:spcPts val="0"/>
              </a:spcBef>
              <a:spcAft>
                <a:spcPts val="0"/>
              </a:spcAft>
              <a:buClr>
                <a:schemeClr val="lt2"/>
              </a:buClr>
              <a:buSzPts val="4200"/>
              <a:buNone/>
              <a:defRPr sz="4200">
                <a:solidFill>
                  <a:schemeClr val="lt2"/>
                </a:solidFill>
              </a:defRPr>
            </a:lvl7pPr>
            <a:lvl8pPr lvl="7" algn="ctr">
              <a:spcBef>
                <a:spcPts val="0"/>
              </a:spcBef>
              <a:spcAft>
                <a:spcPts val="0"/>
              </a:spcAft>
              <a:buClr>
                <a:schemeClr val="lt2"/>
              </a:buClr>
              <a:buSzPts val="4200"/>
              <a:buNone/>
              <a:defRPr sz="4200">
                <a:solidFill>
                  <a:schemeClr val="lt2"/>
                </a:solidFill>
              </a:defRPr>
            </a:lvl8pPr>
            <a:lvl9pPr lvl="8" algn="ctr">
              <a:spcBef>
                <a:spcPts val="0"/>
              </a:spcBef>
              <a:spcAft>
                <a:spcPts val="0"/>
              </a:spcAft>
              <a:buClr>
                <a:schemeClr val="lt2"/>
              </a:buClr>
              <a:buSzPts val="4200"/>
              <a:buNone/>
              <a:defRPr sz="4200">
                <a:solidFill>
                  <a:schemeClr val="lt2"/>
                </a:solidFill>
              </a:defRPr>
            </a:lvl9pPr>
          </a:lstStyle>
          <a:p/>
        </p:txBody>
      </p:sp>
      <p:sp>
        <p:nvSpPr>
          <p:cNvPr id="43" name="Google Shape;43;p9"/>
          <p:cNvSpPr txBox="1"/>
          <p:nvPr>
            <p:ph idx="1" type="subTitle"/>
          </p:nvPr>
        </p:nvSpPr>
        <p:spPr>
          <a:xfrm>
            <a:off x="265500" y="2769001"/>
            <a:ext cx="4045200" cy="13455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4" name="Google Shape;44;p9"/>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Clr>
                <a:schemeClr val="accent1"/>
              </a:buClr>
              <a:buSzPts val="1800"/>
              <a:buChar char="●"/>
              <a:defRPr>
                <a:solidFill>
                  <a:schemeClr val="accent1"/>
                </a:solidFill>
              </a:defRPr>
            </a:lvl1pPr>
            <a:lvl2pPr indent="-317500" lvl="1" marL="914400">
              <a:spcBef>
                <a:spcPts val="1600"/>
              </a:spcBef>
              <a:spcAft>
                <a:spcPts val="0"/>
              </a:spcAft>
              <a:buClr>
                <a:schemeClr val="accent1"/>
              </a:buClr>
              <a:buSzPts val="1400"/>
              <a:buChar char="○"/>
              <a:defRPr>
                <a:solidFill>
                  <a:schemeClr val="accent1"/>
                </a:solidFill>
              </a:defRPr>
            </a:lvl2pPr>
            <a:lvl3pPr indent="-317500" lvl="2" marL="1371600">
              <a:spcBef>
                <a:spcPts val="1600"/>
              </a:spcBef>
              <a:spcAft>
                <a:spcPts val="0"/>
              </a:spcAft>
              <a:buClr>
                <a:schemeClr val="accent1"/>
              </a:buClr>
              <a:buSzPts val="1400"/>
              <a:buChar char="■"/>
              <a:defRPr>
                <a:solidFill>
                  <a:schemeClr val="accent1"/>
                </a:solidFill>
              </a:defRPr>
            </a:lvl3pPr>
            <a:lvl4pPr indent="-317500" lvl="3" marL="1828800">
              <a:spcBef>
                <a:spcPts val="1600"/>
              </a:spcBef>
              <a:spcAft>
                <a:spcPts val="0"/>
              </a:spcAft>
              <a:buClr>
                <a:schemeClr val="accent1"/>
              </a:buClr>
              <a:buSzPts val="1400"/>
              <a:buChar char="●"/>
              <a:defRPr>
                <a:solidFill>
                  <a:schemeClr val="accent1"/>
                </a:solidFill>
              </a:defRPr>
            </a:lvl4pPr>
            <a:lvl5pPr indent="-317500" lvl="4" marL="2286000">
              <a:spcBef>
                <a:spcPts val="1600"/>
              </a:spcBef>
              <a:spcAft>
                <a:spcPts val="0"/>
              </a:spcAft>
              <a:buClr>
                <a:schemeClr val="accent1"/>
              </a:buClr>
              <a:buSzPts val="1400"/>
              <a:buChar char="○"/>
              <a:defRPr>
                <a:solidFill>
                  <a:schemeClr val="accent1"/>
                </a:solidFill>
              </a:defRPr>
            </a:lvl5pPr>
            <a:lvl6pPr indent="-317500" lvl="5" marL="2743200">
              <a:spcBef>
                <a:spcPts val="1600"/>
              </a:spcBef>
              <a:spcAft>
                <a:spcPts val="0"/>
              </a:spcAft>
              <a:buClr>
                <a:schemeClr val="accent1"/>
              </a:buClr>
              <a:buSzPts val="1400"/>
              <a:buChar char="■"/>
              <a:defRPr>
                <a:solidFill>
                  <a:schemeClr val="accent1"/>
                </a:solidFill>
              </a:defRPr>
            </a:lvl6pPr>
            <a:lvl7pPr indent="-317500" lvl="6" marL="3200400">
              <a:spcBef>
                <a:spcPts val="1600"/>
              </a:spcBef>
              <a:spcAft>
                <a:spcPts val="0"/>
              </a:spcAft>
              <a:buClr>
                <a:schemeClr val="accent1"/>
              </a:buClr>
              <a:buSzPts val="1400"/>
              <a:buChar char="●"/>
              <a:defRPr>
                <a:solidFill>
                  <a:schemeClr val="accent1"/>
                </a:solidFill>
              </a:defRPr>
            </a:lvl7pPr>
            <a:lvl8pPr indent="-317500" lvl="7" marL="3657600">
              <a:spcBef>
                <a:spcPts val="1600"/>
              </a:spcBef>
              <a:spcAft>
                <a:spcPts val="0"/>
              </a:spcAft>
              <a:buClr>
                <a:schemeClr val="accent1"/>
              </a:buClr>
              <a:buSzPts val="1400"/>
              <a:buChar char="○"/>
              <a:defRPr>
                <a:solidFill>
                  <a:schemeClr val="accent1"/>
                </a:solidFill>
              </a:defRPr>
            </a:lvl8pPr>
            <a:lvl9pPr indent="-317500" lvl="8" marL="4114800">
              <a:spcBef>
                <a:spcPts val="1600"/>
              </a:spcBef>
              <a:spcAft>
                <a:spcPts val="1600"/>
              </a:spcAft>
              <a:buClr>
                <a:schemeClr val="accent1"/>
              </a:buClr>
              <a:buSzPts val="1400"/>
              <a:buChar char="■"/>
              <a:defRPr>
                <a:solidFill>
                  <a:schemeClr val="accent1"/>
                </a:solidFill>
              </a:defRPr>
            </a:lvl9pPr>
          </a:lstStyle>
          <a:p/>
        </p:txBody>
      </p:sp>
      <p:sp>
        <p:nvSpPr>
          <p:cNvPr id="45" name="Google Shape;45;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6" name="Shape 46"/>
        <p:cNvGrpSpPr/>
        <p:nvPr/>
      </p:nvGrpSpPr>
      <p:grpSpPr>
        <a:xfrm>
          <a:off x="0" y="0"/>
          <a:ext cx="0" cy="0"/>
          <a:chOff x="0" y="0"/>
          <a:chExt cx="0" cy="0"/>
        </a:xfrm>
      </p:grpSpPr>
      <p:sp>
        <p:nvSpPr>
          <p:cNvPr id="47" name="Google Shape;47;p10"/>
          <p:cNvSpPr txBox="1"/>
          <p:nvPr>
            <p:ph idx="1" type="body"/>
          </p:nvPr>
        </p:nvSpPr>
        <p:spPr>
          <a:xfrm>
            <a:off x="1074600" y="2846541"/>
            <a:ext cx="6994800" cy="1785000"/>
          </a:xfrm>
          <a:prstGeom prst="rect">
            <a:avLst/>
          </a:prstGeom>
          <a:solidFill>
            <a:schemeClr val="lt1"/>
          </a:solidFill>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sz="4200"/>
            </a:lvl1pPr>
          </a:lstStyle>
          <a:p/>
        </p:txBody>
      </p:sp>
      <p:sp>
        <p:nvSpPr>
          <p:cNvPr id="48" name="Google Shape;48;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9" name="Shape 49"/>
        <p:cNvGrpSpPr/>
        <p:nvPr/>
      </p:nvGrpSpPr>
      <p:grpSpPr>
        <a:xfrm>
          <a:off x="0" y="0"/>
          <a:ext cx="0" cy="0"/>
          <a:chOff x="0" y="0"/>
          <a:chExt cx="0" cy="0"/>
        </a:xfrm>
      </p:grpSpPr>
      <p:sp>
        <p:nvSpPr>
          <p:cNvPr id="50" name="Google Shape;50;p11"/>
          <p:cNvSpPr txBox="1"/>
          <p:nvPr>
            <p:ph hasCustomPrompt="1" type="title"/>
          </p:nvPr>
        </p:nvSpPr>
        <p:spPr>
          <a:xfrm>
            <a:off x="311700" y="1039650"/>
            <a:ext cx="8520600" cy="2106300"/>
          </a:xfrm>
          <a:prstGeom prst="rect">
            <a:avLst/>
          </a:prstGeom>
        </p:spPr>
        <p:txBody>
          <a:bodyPr anchorCtr="0" anchor="b" bIns="91425" lIns="91425" spcFirstLastPara="1" rIns="91425" wrap="square" tIns="91425">
            <a:noAutofit/>
          </a:bodyPr>
          <a:lstStyle>
            <a:lvl1pPr lvl="0" algn="ctr">
              <a:spcBef>
                <a:spcPts val="0"/>
              </a:spcBef>
              <a:spcAft>
                <a:spcPts val="0"/>
              </a:spcAft>
              <a:buSzPts val="14000"/>
              <a:buNone/>
              <a:defRPr b="1" sz="14000"/>
            </a:lvl1pPr>
            <a:lvl2pPr lvl="1" algn="ctr">
              <a:spcBef>
                <a:spcPts val="0"/>
              </a:spcBef>
              <a:spcAft>
                <a:spcPts val="0"/>
              </a:spcAft>
              <a:buSzPts val="14000"/>
              <a:buNone/>
              <a:defRPr b="1" sz="14000"/>
            </a:lvl2pPr>
            <a:lvl3pPr lvl="2" algn="ctr">
              <a:spcBef>
                <a:spcPts val="0"/>
              </a:spcBef>
              <a:spcAft>
                <a:spcPts val="0"/>
              </a:spcAft>
              <a:buSzPts val="14000"/>
              <a:buNone/>
              <a:defRPr b="1" sz="14000"/>
            </a:lvl3pPr>
            <a:lvl4pPr lvl="3" algn="ctr">
              <a:spcBef>
                <a:spcPts val="0"/>
              </a:spcBef>
              <a:spcAft>
                <a:spcPts val="0"/>
              </a:spcAft>
              <a:buSzPts val="14000"/>
              <a:buNone/>
              <a:defRPr b="1" sz="14000"/>
            </a:lvl4pPr>
            <a:lvl5pPr lvl="4" algn="ctr">
              <a:spcBef>
                <a:spcPts val="0"/>
              </a:spcBef>
              <a:spcAft>
                <a:spcPts val="0"/>
              </a:spcAft>
              <a:buSzPts val="14000"/>
              <a:buNone/>
              <a:defRPr b="1" sz="14000"/>
            </a:lvl5pPr>
            <a:lvl6pPr lvl="5" algn="ctr">
              <a:spcBef>
                <a:spcPts val="0"/>
              </a:spcBef>
              <a:spcAft>
                <a:spcPts val="0"/>
              </a:spcAft>
              <a:buSzPts val="14000"/>
              <a:buNone/>
              <a:defRPr b="1" sz="14000"/>
            </a:lvl6pPr>
            <a:lvl7pPr lvl="6" algn="ctr">
              <a:spcBef>
                <a:spcPts val="0"/>
              </a:spcBef>
              <a:spcAft>
                <a:spcPts val="0"/>
              </a:spcAft>
              <a:buSzPts val="14000"/>
              <a:buNone/>
              <a:defRPr b="1" sz="14000"/>
            </a:lvl7pPr>
            <a:lvl8pPr lvl="7" algn="ctr">
              <a:spcBef>
                <a:spcPts val="0"/>
              </a:spcBef>
              <a:spcAft>
                <a:spcPts val="0"/>
              </a:spcAft>
              <a:buSzPts val="14000"/>
              <a:buNone/>
              <a:defRPr b="1" sz="14000"/>
            </a:lvl8pPr>
            <a:lvl9pPr lvl="8" algn="ctr">
              <a:spcBef>
                <a:spcPts val="0"/>
              </a:spcBef>
              <a:spcAft>
                <a:spcPts val="0"/>
              </a:spcAft>
              <a:buSzPts val="14000"/>
              <a:buNone/>
              <a:defRPr b="1" sz="14000"/>
            </a:lvl9pPr>
          </a:lstStyle>
          <a:p>
            <a:r>
              <a:t>xx%</a:t>
            </a:r>
          </a:p>
        </p:txBody>
      </p:sp>
      <p:sp>
        <p:nvSpPr>
          <p:cNvPr id="51" name="Google Shape;51;p11"/>
          <p:cNvSpPr txBox="1"/>
          <p:nvPr>
            <p:ph idx="1" type="body"/>
          </p:nvPr>
        </p:nvSpPr>
        <p:spPr>
          <a:xfrm>
            <a:off x="311700" y="32284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52" name="Google Shape;52;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paperback">
    <p:bg>
      <p:bgPr>
        <a:solidFill>
          <a:schemeClr val="accen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6132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1pPr>
            <a:lvl2pPr lvl="1">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2pPr>
            <a:lvl3pPr lvl="2">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3pPr>
            <a:lvl4pPr lvl="3">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4pPr>
            <a:lvl5pPr lvl="4">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5pPr>
            <a:lvl6pPr lvl="5">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6pPr>
            <a:lvl7pPr lvl="6">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7pPr>
            <a:lvl8pPr lvl="7">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8pPr>
            <a:lvl9pPr lvl="8">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9pPr>
          </a:lstStyle>
          <a:p/>
        </p:txBody>
      </p:sp>
      <p:sp>
        <p:nvSpPr>
          <p:cNvPr id="7" name="Google Shape;7;p1"/>
          <p:cNvSpPr txBox="1"/>
          <p:nvPr>
            <p:ph idx="1" type="body"/>
          </p:nvPr>
        </p:nvSpPr>
        <p:spPr>
          <a:xfrm>
            <a:off x="311700" y="1171600"/>
            <a:ext cx="8520600" cy="33972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1"/>
              </a:buClr>
              <a:buSzPts val="1800"/>
              <a:buFont typeface="Old Standard TT"/>
              <a:buChar char="●"/>
              <a:defRPr sz="1800">
                <a:solidFill>
                  <a:schemeClr val="dk1"/>
                </a:solidFill>
                <a:latin typeface="Old Standard TT"/>
                <a:ea typeface="Old Standard TT"/>
                <a:cs typeface="Old Standard TT"/>
                <a:sym typeface="Old Standard TT"/>
              </a:defRPr>
            </a:lvl1pPr>
            <a:lvl2pPr indent="-317500" lvl="1" marL="9144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2pPr>
            <a:lvl3pPr indent="-317500" lvl="2" marL="13716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3pPr>
            <a:lvl4pPr indent="-317500" lvl="3" marL="18288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4pPr>
            <a:lvl5pPr indent="-317500" lvl="4" marL="22860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5pPr>
            <a:lvl6pPr indent="-317500" lvl="5" marL="27432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6pPr>
            <a:lvl7pPr indent="-317500" lvl="6" marL="32004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7pPr>
            <a:lvl8pPr indent="-317500" lvl="7" marL="36576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8pPr>
            <a:lvl9pPr indent="-317500" lvl="8" marL="4114800">
              <a:lnSpc>
                <a:spcPct val="115000"/>
              </a:lnSpc>
              <a:spcBef>
                <a:spcPts val="1600"/>
              </a:spcBef>
              <a:spcAft>
                <a:spcPts val="160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1"/>
                </a:solidFill>
                <a:latin typeface="Old Standard TT"/>
                <a:ea typeface="Old Standard TT"/>
                <a:cs typeface="Old Standard TT"/>
                <a:sym typeface="Old Standard TT"/>
              </a:defRPr>
            </a:lvl1pPr>
            <a:lvl2pPr lvl="1" algn="r">
              <a:buNone/>
              <a:defRPr sz="1000">
                <a:solidFill>
                  <a:schemeClr val="dk1"/>
                </a:solidFill>
                <a:latin typeface="Old Standard TT"/>
                <a:ea typeface="Old Standard TT"/>
                <a:cs typeface="Old Standard TT"/>
                <a:sym typeface="Old Standard TT"/>
              </a:defRPr>
            </a:lvl2pPr>
            <a:lvl3pPr lvl="2" algn="r">
              <a:buNone/>
              <a:defRPr sz="1000">
                <a:solidFill>
                  <a:schemeClr val="dk1"/>
                </a:solidFill>
                <a:latin typeface="Old Standard TT"/>
                <a:ea typeface="Old Standard TT"/>
                <a:cs typeface="Old Standard TT"/>
                <a:sym typeface="Old Standard TT"/>
              </a:defRPr>
            </a:lvl3pPr>
            <a:lvl4pPr lvl="3" algn="r">
              <a:buNone/>
              <a:defRPr sz="1000">
                <a:solidFill>
                  <a:schemeClr val="dk1"/>
                </a:solidFill>
                <a:latin typeface="Old Standard TT"/>
                <a:ea typeface="Old Standard TT"/>
                <a:cs typeface="Old Standard TT"/>
                <a:sym typeface="Old Standard TT"/>
              </a:defRPr>
            </a:lvl4pPr>
            <a:lvl5pPr lvl="4" algn="r">
              <a:buNone/>
              <a:defRPr sz="1000">
                <a:solidFill>
                  <a:schemeClr val="dk1"/>
                </a:solidFill>
                <a:latin typeface="Old Standard TT"/>
                <a:ea typeface="Old Standard TT"/>
                <a:cs typeface="Old Standard TT"/>
                <a:sym typeface="Old Standard TT"/>
              </a:defRPr>
            </a:lvl5pPr>
            <a:lvl6pPr lvl="5" algn="r">
              <a:buNone/>
              <a:defRPr sz="1000">
                <a:solidFill>
                  <a:schemeClr val="dk1"/>
                </a:solidFill>
                <a:latin typeface="Old Standard TT"/>
                <a:ea typeface="Old Standard TT"/>
                <a:cs typeface="Old Standard TT"/>
                <a:sym typeface="Old Standard TT"/>
              </a:defRPr>
            </a:lvl6pPr>
            <a:lvl7pPr lvl="6" algn="r">
              <a:buNone/>
              <a:defRPr sz="1000">
                <a:solidFill>
                  <a:schemeClr val="dk1"/>
                </a:solidFill>
                <a:latin typeface="Old Standard TT"/>
                <a:ea typeface="Old Standard TT"/>
                <a:cs typeface="Old Standard TT"/>
                <a:sym typeface="Old Standard TT"/>
              </a:defRPr>
            </a:lvl7pPr>
            <a:lvl8pPr lvl="7" algn="r">
              <a:buNone/>
              <a:defRPr sz="1000">
                <a:solidFill>
                  <a:schemeClr val="dk1"/>
                </a:solidFill>
                <a:latin typeface="Old Standard TT"/>
                <a:ea typeface="Old Standard TT"/>
                <a:cs typeface="Old Standard TT"/>
                <a:sym typeface="Old Standard TT"/>
              </a:defRPr>
            </a:lvl8pPr>
            <a:lvl9pPr lvl="8" algn="r">
              <a:buNone/>
              <a:defRPr sz="1000">
                <a:solidFill>
                  <a:schemeClr val="dk1"/>
                </a:solidFill>
                <a:latin typeface="Old Standard TT"/>
                <a:ea typeface="Old Standard TT"/>
                <a:cs typeface="Old Standard TT"/>
                <a:sym typeface="Old Standard TT"/>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0.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6.png"/><Relationship Id="rId4" Type="http://schemas.openxmlformats.org/officeDocument/2006/relationships/image" Target="../media/image23.png"/><Relationship Id="rId5" Type="http://schemas.openxmlformats.org/officeDocument/2006/relationships/image" Target="../media/image18.png"/><Relationship Id="rId6" Type="http://schemas.openxmlformats.org/officeDocument/2006/relationships/image" Target="../media/image14.png"/><Relationship Id="rId7" Type="http://schemas.openxmlformats.org/officeDocument/2006/relationships/image" Target="../media/image11.png"/><Relationship Id="rId8"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15.png"/><Relationship Id="rId4" Type="http://schemas.openxmlformats.org/officeDocument/2006/relationships/image" Target="../media/image4.png"/><Relationship Id="rId5" Type="http://schemas.openxmlformats.org/officeDocument/2006/relationships/image" Target="../media/image3.png"/><Relationship Id="rId6" Type="http://schemas.openxmlformats.org/officeDocument/2006/relationships/image" Target="../media/image12.png"/><Relationship Id="rId7"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25.png"/><Relationship Id="rId4" Type="http://schemas.openxmlformats.org/officeDocument/2006/relationships/image" Target="../media/image13.png"/><Relationship Id="rId5" Type="http://schemas.openxmlformats.org/officeDocument/2006/relationships/image" Target="../media/image7.png"/><Relationship Id="rId6"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1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9.png"/><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image" Target="../media/image2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image" Target="../media/image2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image" Target="../media/image2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 Id="rId3" Type="http://schemas.openxmlformats.org/officeDocument/2006/relationships/image" Target="../media/image30.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 Id="rId3" Type="http://schemas.openxmlformats.org/officeDocument/2006/relationships/image" Target="../media/image29.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 Id="rId3" Type="http://schemas.openxmlformats.org/officeDocument/2006/relationships/image" Target="../media/image24.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 Id="rId3" Type="http://schemas.openxmlformats.org/officeDocument/2006/relationships/image" Target="../media/image31.jpg"/><Relationship Id="rId4" Type="http://schemas.openxmlformats.org/officeDocument/2006/relationships/image" Target="../media/image21.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 Id="rId3" Type="http://schemas.openxmlformats.org/officeDocument/2006/relationships/image" Target="../media/image27.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 Id="rId3" Type="http://schemas.openxmlformats.org/officeDocument/2006/relationships/image" Target="../media/image32.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5.xml"/><Relationship Id="rId3" Type="http://schemas.openxmlformats.org/officeDocument/2006/relationships/image" Target="../media/image16.jpg"/><Relationship Id="rId4" Type="http://schemas.openxmlformats.org/officeDocument/2006/relationships/image" Target="../media/image22.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3"/>
          <p:cNvSpPr txBox="1"/>
          <p:nvPr>
            <p:ph type="ctrTitle"/>
          </p:nvPr>
        </p:nvSpPr>
        <p:spPr>
          <a:xfrm>
            <a:off x="512700" y="1893300"/>
            <a:ext cx="8118600" cy="1522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3000"/>
              <a:t>AI Customer IT Support Ticket Classification</a:t>
            </a:r>
            <a:endParaRPr sz="3000"/>
          </a:p>
        </p:txBody>
      </p:sp>
      <p:pic>
        <p:nvPicPr>
          <p:cNvPr id="60" name="Google Shape;60;p13"/>
          <p:cNvPicPr preferRelativeResize="0"/>
          <p:nvPr/>
        </p:nvPicPr>
        <p:blipFill>
          <a:blip r:embed="rId3">
            <a:alphaModFix/>
          </a:blip>
          <a:stretch>
            <a:fillRect/>
          </a:stretch>
        </p:blipFill>
        <p:spPr>
          <a:xfrm>
            <a:off x="512700" y="3789450"/>
            <a:ext cx="7752551" cy="8971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4"/>
          <p:cNvSpPr txBox="1"/>
          <p:nvPr>
            <p:ph type="title"/>
          </p:nvPr>
        </p:nvSpPr>
        <p:spPr>
          <a:xfrm>
            <a:off x="265500" y="1382350"/>
            <a:ext cx="4045200" cy="13332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Agenda</a:t>
            </a:r>
            <a:endParaRPr/>
          </a:p>
        </p:txBody>
      </p:sp>
      <p:sp>
        <p:nvSpPr>
          <p:cNvPr id="66" name="Google Shape;66;p14"/>
          <p:cNvSpPr txBox="1"/>
          <p:nvPr>
            <p:ph idx="2" type="body"/>
          </p:nvPr>
        </p:nvSpPr>
        <p:spPr>
          <a:xfrm>
            <a:off x="4572000" y="724200"/>
            <a:ext cx="4572000" cy="3695100"/>
          </a:xfrm>
          <a:prstGeom prst="rect">
            <a:avLst/>
          </a:prstGeom>
        </p:spPr>
        <p:txBody>
          <a:bodyPr anchorCtr="0" anchor="ctr" bIns="91425" lIns="91425" spcFirstLastPara="1" rIns="91425" wrap="square" tIns="91425">
            <a:noAutofit/>
          </a:bodyPr>
          <a:lstStyle/>
          <a:p>
            <a:pPr indent="-342900" lvl="0" marL="457200" rtl="0" algn="l">
              <a:spcBef>
                <a:spcPts val="0"/>
              </a:spcBef>
              <a:spcAft>
                <a:spcPts val="0"/>
              </a:spcAft>
              <a:buSzPts val="1800"/>
              <a:buChar char="●"/>
            </a:pPr>
            <a:r>
              <a:rPr lang="en"/>
              <a:t>Intro</a:t>
            </a:r>
            <a:endParaRPr/>
          </a:p>
          <a:p>
            <a:pPr indent="-342900" lvl="0" marL="457200" rtl="0" algn="l">
              <a:spcBef>
                <a:spcPts val="1600"/>
              </a:spcBef>
              <a:spcAft>
                <a:spcPts val="0"/>
              </a:spcAft>
              <a:buSzPts val="1800"/>
              <a:buChar char="●"/>
            </a:pPr>
            <a:r>
              <a:rPr lang="en"/>
              <a:t>EDA + Preprocessing</a:t>
            </a:r>
            <a:endParaRPr/>
          </a:p>
          <a:p>
            <a:pPr indent="-342900" lvl="0" marL="457200" rtl="0" algn="l">
              <a:spcBef>
                <a:spcPts val="1600"/>
              </a:spcBef>
              <a:spcAft>
                <a:spcPts val="0"/>
              </a:spcAft>
              <a:buSzPts val="1800"/>
              <a:buChar char="●"/>
            </a:pPr>
            <a:r>
              <a:rPr lang="en"/>
              <a:t>Model 1: TF_IDF + SVM</a:t>
            </a:r>
            <a:endParaRPr/>
          </a:p>
          <a:p>
            <a:pPr indent="-342900" lvl="0" marL="457200" rtl="0" algn="l">
              <a:spcBef>
                <a:spcPts val="1600"/>
              </a:spcBef>
              <a:spcAft>
                <a:spcPts val="0"/>
              </a:spcAft>
              <a:buSzPts val="1800"/>
              <a:buChar char="●"/>
            </a:pPr>
            <a:r>
              <a:rPr lang="en"/>
              <a:t>Model 2: BERT + NN</a:t>
            </a:r>
            <a:endParaRPr/>
          </a:p>
          <a:p>
            <a:pPr indent="-342900" lvl="0" marL="457200" rtl="0" algn="l">
              <a:spcBef>
                <a:spcPts val="1600"/>
              </a:spcBef>
              <a:spcAft>
                <a:spcPts val="0"/>
              </a:spcAft>
              <a:buSzPts val="1800"/>
              <a:buChar char="●"/>
            </a:pPr>
            <a:r>
              <a:rPr lang="en"/>
              <a:t>Model 3: TF_IDF + K-NN</a:t>
            </a:r>
            <a:endParaRPr/>
          </a:p>
          <a:p>
            <a:pPr indent="-342900" lvl="0" marL="457200" rtl="0" algn="l">
              <a:spcBef>
                <a:spcPts val="1600"/>
              </a:spcBef>
              <a:spcAft>
                <a:spcPts val="0"/>
              </a:spcAft>
              <a:buSzPts val="1800"/>
              <a:buChar char="●"/>
            </a:pPr>
            <a:r>
              <a:rPr lang="en"/>
              <a:t>Model </a:t>
            </a:r>
            <a:r>
              <a:rPr lang="en"/>
              <a:t>Evaluation &amp; Selection</a:t>
            </a:r>
            <a:endParaRPr/>
          </a:p>
          <a:p>
            <a:pPr indent="-342900" lvl="0" marL="457200" rtl="0" algn="l">
              <a:spcBef>
                <a:spcPts val="1600"/>
              </a:spcBef>
              <a:spcAft>
                <a:spcPts val="1600"/>
              </a:spcAft>
              <a:buSzPts val="1800"/>
              <a:buChar char="●"/>
            </a:pPr>
            <a:r>
              <a:rPr lang="en"/>
              <a:t>Demo</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15"/>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2400"/>
              <a:t>Project at a glance</a:t>
            </a:r>
            <a:endParaRPr b="1" sz="2400"/>
          </a:p>
        </p:txBody>
      </p:sp>
      <p:sp>
        <p:nvSpPr>
          <p:cNvPr id="72" name="Google Shape;72;p15"/>
          <p:cNvSpPr txBox="1"/>
          <p:nvPr>
            <p:ph idx="1" type="body"/>
          </p:nvPr>
        </p:nvSpPr>
        <p:spPr>
          <a:xfrm>
            <a:off x="311700" y="1420025"/>
            <a:ext cx="4336800" cy="305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rgbClr val="2F75B5"/>
                </a:solidFill>
                <a:latin typeface="Times New Roman"/>
                <a:ea typeface="Times New Roman"/>
                <a:cs typeface="Times New Roman"/>
                <a:sym typeface="Times New Roman"/>
              </a:rPr>
              <a:t>Problem</a:t>
            </a:r>
            <a:endParaRPr b="1" sz="1800">
              <a:solidFill>
                <a:srgbClr val="2F75B5"/>
              </a:solidFill>
              <a:latin typeface="Times New Roman"/>
              <a:ea typeface="Times New Roman"/>
              <a:cs typeface="Times New Roman"/>
              <a:sym typeface="Times New Roman"/>
            </a:endParaRPr>
          </a:p>
          <a:p>
            <a:pPr indent="0" lvl="0" marL="0" rtl="0" algn="l">
              <a:spcBef>
                <a:spcPts val="0"/>
              </a:spcBef>
              <a:spcAft>
                <a:spcPts val="0"/>
              </a:spcAft>
              <a:buNone/>
            </a:pPr>
            <a:r>
              <a:rPr lang="en" sz="1800">
                <a:solidFill>
                  <a:srgbClr val="111827"/>
                </a:solidFill>
                <a:latin typeface="Times New Roman"/>
                <a:ea typeface="Times New Roman"/>
                <a:cs typeface="Times New Roman"/>
                <a:sym typeface="Times New Roman"/>
              </a:rPr>
              <a:t>Manual ticket triage is repetitive and inconsistent.</a:t>
            </a:r>
            <a:endParaRPr sz="1800">
              <a:solidFill>
                <a:srgbClr val="111827"/>
              </a:solidFill>
              <a:latin typeface="Times New Roman"/>
              <a:ea typeface="Times New Roman"/>
              <a:cs typeface="Times New Roman"/>
              <a:sym typeface="Times New Roman"/>
            </a:endParaRPr>
          </a:p>
          <a:p>
            <a:pPr indent="0" lvl="0" marL="0" rtl="0" algn="l">
              <a:spcBef>
                <a:spcPts val="0"/>
              </a:spcBef>
              <a:spcAft>
                <a:spcPts val="0"/>
              </a:spcAft>
              <a:buNone/>
            </a:pPr>
            <a:r>
              <a:t/>
            </a:r>
            <a:endParaRPr b="1" sz="1800">
              <a:solidFill>
                <a:srgbClr val="2F75B5"/>
              </a:solidFill>
              <a:latin typeface="Times New Roman"/>
              <a:ea typeface="Times New Roman"/>
              <a:cs typeface="Times New Roman"/>
              <a:sym typeface="Times New Roman"/>
            </a:endParaRPr>
          </a:p>
          <a:p>
            <a:pPr indent="0" lvl="0" marL="0" rtl="0" algn="l">
              <a:spcBef>
                <a:spcPts val="0"/>
              </a:spcBef>
              <a:spcAft>
                <a:spcPts val="0"/>
              </a:spcAft>
              <a:buNone/>
            </a:pPr>
            <a:r>
              <a:t/>
            </a:r>
            <a:endParaRPr b="1" sz="1800">
              <a:solidFill>
                <a:srgbClr val="2F75B5"/>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b="1" lang="en" sz="1800">
                <a:solidFill>
                  <a:srgbClr val="2F75B5"/>
                </a:solidFill>
                <a:latin typeface="Times New Roman"/>
                <a:ea typeface="Times New Roman"/>
                <a:cs typeface="Times New Roman"/>
                <a:sym typeface="Times New Roman"/>
              </a:rPr>
              <a:t>Goal</a:t>
            </a:r>
            <a:endParaRPr b="1" sz="1800">
              <a:solidFill>
                <a:srgbClr val="2F75B5"/>
              </a:solidFill>
              <a:latin typeface="Times New Roman"/>
              <a:ea typeface="Times New Roman"/>
              <a:cs typeface="Times New Roman"/>
              <a:sym typeface="Times New Roman"/>
            </a:endParaRPr>
          </a:p>
          <a:p>
            <a:pPr indent="0" lvl="0" marL="0" rtl="0" algn="l">
              <a:spcBef>
                <a:spcPts val="0"/>
              </a:spcBef>
              <a:spcAft>
                <a:spcPts val="0"/>
              </a:spcAft>
              <a:buNone/>
            </a:pPr>
            <a:r>
              <a:rPr lang="en" sz="1800">
                <a:solidFill>
                  <a:srgbClr val="111827"/>
                </a:solidFill>
                <a:latin typeface="Times New Roman"/>
                <a:ea typeface="Times New Roman"/>
                <a:cs typeface="Times New Roman"/>
                <a:sym typeface="Times New Roman"/>
              </a:rPr>
              <a:t>Use ticket text to predict labels that help route and prioritize requests.</a:t>
            </a:r>
            <a:endParaRPr b="1" sz="1800">
              <a:solidFill>
                <a:srgbClr val="2F75B5"/>
              </a:solidFill>
              <a:latin typeface="Times New Roman"/>
              <a:ea typeface="Times New Roman"/>
              <a:cs typeface="Times New Roman"/>
              <a:sym typeface="Times New Roman"/>
            </a:endParaRPr>
          </a:p>
        </p:txBody>
      </p:sp>
      <p:sp>
        <p:nvSpPr>
          <p:cNvPr id="73" name="Google Shape;73;p15"/>
          <p:cNvSpPr txBox="1"/>
          <p:nvPr>
            <p:ph idx="2" type="body"/>
          </p:nvPr>
        </p:nvSpPr>
        <p:spPr>
          <a:xfrm>
            <a:off x="5144100" y="1420025"/>
            <a:ext cx="3999900" cy="305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800">
                <a:solidFill>
                  <a:srgbClr val="2F75B5"/>
                </a:solidFill>
                <a:latin typeface="Times New Roman"/>
                <a:ea typeface="Times New Roman"/>
                <a:cs typeface="Times New Roman"/>
                <a:sym typeface="Times New Roman"/>
              </a:rPr>
              <a:t>Inputs</a:t>
            </a:r>
            <a:endParaRPr b="1" sz="1800">
              <a:solidFill>
                <a:srgbClr val="2F75B5"/>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 sz="1800">
                <a:solidFill>
                  <a:srgbClr val="111827"/>
                </a:solidFill>
                <a:latin typeface="Times New Roman"/>
                <a:ea typeface="Times New Roman"/>
                <a:cs typeface="Times New Roman"/>
                <a:sym typeface="Times New Roman"/>
              </a:rPr>
              <a:t>subject + body</a:t>
            </a:r>
            <a:endParaRPr sz="1800">
              <a:solidFill>
                <a:srgbClr val="111827"/>
              </a:solidFill>
              <a:latin typeface="Times New Roman"/>
              <a:ea typeface="Times New Roman"/>
              <a:cs typeface="Times New Roman"/>
              <a:sym typeface="Times New Roman"/>
            </a:endParaRPr>
          </a:p>
          <a:p>
            <a:pPr indent="0" lvl="0" marL="0" rtl="0" algn="l">
              <a:spcBef>
                <a:spcPts val="0"/>
              </a:spcBef>
              <a:spcAft>
                <a:spcPts val="0"/>
              </a:spcAft>
              <a:buNone/>
            </a:pPr>
            <a:r>
              <a:t/>
            </a:r>
            <a:endParaRPr b="1" sz="1800">
              <a:solidFill>
                <a:srgbClr val="2F75B5"/>
              </a:solidFill>
              <a:latin typeface="Times New Roman"/>
              <a:ea typeface="Times New Roman"/>
              <a:cs typeface="Times New Roman"/>
              <a:sym typeface="Times New Roman"/>
            </a:endParaRPr>
          </a:p>
          <a:p>
            <a:pPr indent="0" lvl="0" marL="0" rtl="0" algn="l">
              <a:spcBef>
                <a:spcPts val="0"/>
              </a:spcBef>
              <a:spcAft>
                <a:spcPts val="0"/>
              </a:spcAft>
              <a:buNone/>
            </a:pPr>
            <a:r>
              <a:t/>
            </a:r>
            <a:endParaRPr b="1" sz="1800">
              <a:solidFill>
                <a:srgbClr val="2F75B5"/>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b="1" lang="en" sz="1800">
                <a:solidFill>
                  <a:srgbClr val="2F75B5"/>
                </a:solidFill>
                <a:latin typeface="Times New Roman"/>
                <a:ea typeface="Times New Roman"/>
                <a:cs typeface="Times New Roman"/>
                <a:sym typeface="Times New Roman"/>
              </a:rPr>
              <a:t>Outputs</a:t>
            </a:r>
            <a:endParaRPr b="1" sz="1800">
              <a:solidFill>
                <a:srgbClr val="2F75B5"/>
              </a:solidFill>
              <a:latin typeface="Times New Roman"/>
              <a:ea typeface="Times New Roman"/>
              <a:cs typeface="Times New Roman"/>
              <a:sym typeface="Times New Roman"/>
            </a:endParaRPr>
          </a:p>
          <a:p>
            <a:pPr indent="-342900" lvl="0" marL="457200" rtl="0" algn="l">
              <a:spcBef>
                <a:spcPts val="0"/>
              </a:spcBef>
              <a:spcAft>
                <a:spcPts val="0"/>
              </a:spcAft>
              <a:buClr>
                <a:srgbClr val="111827"/>
              </a:buClr>
              <a:buSzPts val="1800"/>
              <a:buFont typeface="Times New Roman"/>
              <a:buChar char="●"/>
            </a:pPr>
            <a:r>
              <a:rPr lang="en" sz="1800">
                <a:solidFill>
                  <a:srgbClr val="111827"/>
                </a:solidFill>
                <a:latin typeface="Times New Roman"/>
                <a:ea typeface="Times New Roman"/>
                <a:cs typeface="Times New Roman"/>
                <a:sym typeface="Times New Roman"/>
              </a:rPr>
              <a:t>ticket type</a:t>
            </a:r>
            <a:endParaRPr sz="1800">
              <a:solidFill>
                <a:srgbClr val="111827"/>
              </a:solidFill>
              <a:latin typeface="Times New Roman"/>
              <a:ea typeface="Times New Roman"/>
              <a:cs typeface="Times New Roman"/>
              <a:sym typeface="Times New Roman"/>
            </a:endParaRPr>
          </a:p>
          <a:p>
            <a:pPr indent="-342900" lvl="0" marL="457200" rtl="0" algn="l">
              <a:spcBef>
                <a:spcPts val="0"/>
              </a:spcBef>
              <a:spcAft>
                <a:spcPts val="0"/>
              </a:spcAft>
              <a:buClr>
                <a:srgbClr val="111827"/>
              </a:buClr>
              <a:buSzPts val="1800"/>
              <a:buFont typeface="Times New Roman"/>
              <a:buChar char="●"/>
            </a:pPr>
            <a:r>
              <a:rPr lang="en" sz="1800">
                <a:solidFill>
                  <a:srgbClr val="111827"/>
                </a:solidFill>
                <a:latin typeface="Times New Roman"/>
                <a:ea typeface="Times New Roman"/>
                <a:cs typeface="Times New Roman"/>
                <a:sym typeface="Times New Roman"/>
              </a:rPr>
              <a:t>priority</a:t>
            </a:r>
            <a:endParaRPr sz="1800">
              <a:solidFill>
                <a:srgbClr val="111827"/>
              </a:solidFill>
              <a:latin typeface="Times New Roman"/>
              <a:ea typeface="Times New Roman"/>
              <a:cs typeface="Times New Roman"/>
              <a:sym typeface="Times New Roman"/>
            </a:endParaRPr>
          </a:p>
          <a:p>
            <a:pPr indent="-342900" lvl="0" marL="457200" rtl="0" algn="l">
              <a:spcBef>
                <a:spcPts val="0"/>
              </a:spcBef>
              <a:spcAft>
                <a:spcPts val="0"/>
              </a:spcAft>
              <a:buClr>
                <a:srgbClr val="111827"/>
              </a:buClr>
              <a:buSzPts val="1800"/>
              <a:buFont typeface="Times New Roman"/>
              <a:buChar char="●"/>
            </a:pPr>
            <a:r>
              <a:rPr lang="en" sz="1800">
                <a:solidFill>
                  <a:srgbClr val="111827"/>
                </a:solidFill>
                <a:latin typeface="Times New Roman"/>
                <a:ea typeface="Times New Roman"/>
                <a:cs typeface="Times New Roman"/>
                <a:sym typeface="Times New Roman"/>
              </a:rPr>
              <a:t>queue</a:t>
            </a:r>
            <a:endParaRPr sz="1800">
              <a:latin typeface="Times New Roman"/>
              <a:ea typeface="Times New Roman"/>
              <a:cs typeface="Times New Roman"/>
              <a:sym typeface="Times New Roman"/>
            </a:endParaRPr>
          </a:p>
        </p:txBody>
      </p:sp>
      <p:sp>
        <p:nvSpPr>
          <p:cNvPr id="74" name="Google Shape;74;p15"/>
          <p:cNvSpPr txBox="1"/>
          <p:nvPr/>
        </p:nvSpPr>
        <p:spPr>
          <a:xfrm>
            <a:off x="311700" y="1021550"/>
            <a:ext cx="5426100" cy="361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150">
                <a:solidFill>
                  <a:srgbClr val="4A5568"/>
                </a:solidFill>
                <a:latin typeface="Times New Roman"/>
                <a:ea typeface="Times New Roman"/>
                <a:cs typeface="Times New Roman"/>
                <a:sym typeface="Times New Roman"/>
              </a:rPr>
              <a:t>From raw support tickets to three routing-related predictions.</a:t>
            </a:r>
            <a:endParaRPr sz="1800">
              <a:solidFill>
                <a:schemeClr val="dk1"/>
              </a:solidFill>
              <a:latin typeface="Times New Roman"/>
              <a:ea typeface="Times New Roman"/>
              <a:cs typeface="Times New Roman"/>
              <a:sym typeface="Times New Roman"/>
            </a:endParaRPr>
          </a:p>
        </p:txBody>
      </p:sp>
      <p:sp>
        <p:nvSpPr>
          <p:cNvPr id="75" name="Google Shape;75;p15"/>
          <p:cNvSpPr txBox="1"/>
          <p:nvPr/>
        </p:nvSpPr>
        <p:spPr>
          <a:xfrm>
            <a:off x="311700" y="4473725"/>
            <a:ext cx="76023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800">
                <a:solidFill>
                  <a:srgbClr val="1F8A70"/>
                </a:solidFill>
                <a:latin typeface="Times New Roman"/>
                <a:ea typeface="Times New Roman"/>
                <a:cs typeface="Times New Roman"/>
                <a:sym typeface="Times New Roman"/>
              </a:rPr>
              <a:t>Setup: supervised multi-class text classification</a:t>
            </a:r>
            <a:endParaRPr sz="1800">
              <a:solidFill>
                <a:schemeClr val="dk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6"/>
          <p:cNvSpPr txBox="1"/>
          <p:nvPr>
            <p:ph type="title"/>
          </p:nvPr>
        </p:nvSpPr>
        <p:spPr>
          <a:xfrm>
            <a:off x="226500" y="154950"/>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2400"/>
              <a:t>EDA</a:t>
            </a:r>
            <a:endParaRPr b="1" sz="2400"/>
          </a:p>
          <a:p>
            <a:pPr indent="0" lvl="0" marL="0" rtl="0" algn="l">
              <a:spcBef>
                <a:spcPts val="0"/>
              </a:spcBef>
              <a:spcAft>
                <a:spcPts val="0"/>
              </a:spcAft>
              <a:buNone/>
            </a:pPr>
            <a:r>
              <a:t/>
            </a:r>
            <a:endParaRPr sz="2400"/>
          </a:p>
          <a:p>
            <a:pPr indent="0" lvl="0" marL="0" rtl="0" algn="l">
              <a:spcBef>
                <a:spcPts val="0"/>
              </a:spcBef>
              <a:spcAft>
                <a:spcPts val="0"/>
              </a:spcAft>
              <a:buNone/>
            </a:pPr>
            <a:r>
              <a:t/>
            </a:r>
            <a:endParaRPr sz="2400"/>
          </a:p>
        </p:txBody>
      </p:sp>
      <p:sp>
        <p:nvSpPr>
          <p:cNvPr id="81" name="Google Shape;81;p16"/>
          <p:cNvSpPr txBox="1"/>
          <p:nvPr>
            <p:ph idx="2" type="body"/>
          </p:nvPr>
        </p:nvSpPr>
        <p:spPr>
          <a:xfrm>
            <a:off x="5101025" y="1517375"/>
            <a:ext cx="4139100" cy="19134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Clr>
                <a:srgbClr val="1D2733"/>
              </a:buClr>
              <a:buSzPts val="1400"/>
              <a:buFont typeface="Times New Roman"/>
              <a:buChar char="●"/>
            </a:pPr>
            <a:r>
              <a:rPr lang="en">
                <a:solidFill>
                  <a:srgbClr val="1D2733"/>
                </a:solidFill>
                <a:latin typeface="Times New Roman"/>
                <a:ea typeface="Times New Roman"/>
                <a:cs typeface="Times New Roman"/>
                <a:sym typeface="Times New Roman"/>
              </a:rPr>
              <a:t>Most tickets are medium-length, but there is a visible spread. This supports using text features that can handle varied ticket detail.</a:t>
            </a:r>
            <a:endParaRPr>
              <a:solidFill>
                <a:srgbClr val="1D2733"/>
              </a:solidFill>
              <a:latin typeface="Times New Roman"/>
              <a:ea typeface="Times New Roman"/>
              <a:cs typeface="Times New Roman"/>
              <a:sym typeface="Times New Roman"/>
            </a:endParaRPr>
          </a:p>
          <a:p>
            <a:pPr indent="-317500" lvl="0" marL="457200" rtl="0" algn="l">
              <a:spcBef>
                <a:spcPts val="0"/>
              </a:spcBef>
              <a:spcAft>
                <a:spcPts val="0"/>
              </a:spcAft>
              <a:buClr>
                <a:srgbClr val="111827"/>
              </a:buClr>
              <a:buSzPts val="1400"/>
              <a:buFont typeface="Times New Roman"/>
              <a:buChar char="●"/>
            </a:pPr>
            <a:r>
              <a:rPr lang="en">
                <a:solidFill>
                  <a:srgbClr val="111827"/>
                </a:solidFill>
                <a:latin typeface="Times New Roman"/>
                <a:ea typeface="Times New Roman"/>
                <a:cs typeface="Times New Roman"/>
                <a:sym typeface="Times New Roman"/>
              </a:rPr>
              <a:t>Queue prediction is the hardest part: labels are imbalanced and several support queues use similar language.</a:t>
            </a:r>
            <a:endParaRPr>
              <a:solidFill>
                <a:srgbClr val="1D2733"/>
              </a:solidFill>
              <a:latin typeface="Times New Roman"/>
              <a:ea typeface="Times New Roman"/>
              <a:cs typeface="Times New Roman"/>
              <a:sym typeface="Times New Roman"/>
            </a:endParaRPr>
          </a:p>
        </p:txBody>
      </p:sp>
      <p:pic>
        <p:nvPicPr>
          <p:cNvPr id="82" name="Google Shape;82;p16"/>
          <p:cNvPicPr preferRelativeResize="0"/>
          <p:nvPr/>
        </p:nvPicPr>
        <p:blipFill>
          <a:blip r:embed="rId3">
            <a:alphaModFix/>
          </a:blip>
          <a:stretch>
            <a:fillRect/>
          </a:stretch>
        </p:blipFill>
        <p:spPr>
          <a:xfrm>
            <a:off x="311275" y="2657675"/>
            <a:ext cx="4556251" cy="2247475"/>
          </a:xfrm>
          <a:prstGeom prst="rect">
            <a:avLst/>
          </a:prstGeom>
          <a:noFill/>
          <a:ln>
            <a:noFill/>
          </a:ln>
        </p:spPr>
      </p:pic>
      <p:pic>
        <p:nvPicPr>
          <p:cNvPr id="83" name="Google Shape;83;p16"/>
          <p:cNvPicPr preferRelativeResize="0"/>
          <p:nvPr/>
        </p:nvPicPr>
        <p:blipFill>
          <a:blip r:embed="rId4">
            <a:alphaModFix/>
          </a:blip>
          <a:stretch>
            <a:fillRect/>
          </a:stretch>
        </p:blipFill>
        <p:spPr>
          <a:xfrm>
            <a:off x="226488" y="913946"/>
            <a:ext cx="4959325" cy="1743717"/>
          </a:xfrm>
          <a:prstGeom prst="rect">
            <a:avLst/>
          </a:prstGeom>
          <a:noFill/>
          <a:ln>
            <a:noFill/>
          </a:ln>
        </p:spPr>
      </p:pic>
      <p:pic>
        <p:nvPicPr>
          <p:cNvPr id="84" name="Google Shape;84;p16"/>
          <p:cNvPicPr preferRelativeResize="0"/>
          <p:nvPr/>
        </p:nvPicPr>
        <p:blipFill>
          <a:blip r:embed="rId5">
            <a:alphaModFix/>
          </a:blip>
          <a:stretch>
            <a:fillRect/>
          </a:stretch>
        </p:blipFill>
        <p:spPr>
          <a:xfrm>
            <a:off x="5367163" y="774513"/>
            <a:ext cx="3480787" cy="742850"/>
          </a:xfrm>
          <a:prstGeom prst="rect">
            <a:avLst/>
          </a:prstGeom>
          <a:noFill/>
          <a:ln>
            <a:noFill/>
          </a:ln>
        </p:spPr>
      </p:pic>
      <p:pic>
        <p:nvPicPr>
          <p:cNvPr id="85" name="Google Shape;85;p16"/>
          <p:cNvPicPr preferRelativeResize="0"/>
          <p:nvPr/>
        </p:nvPicPr>
        <p:blipFill>
          <a:blip r:embed="rId6">
            <a:alphaModFix/>
          </a:blip>
          <a:stretch>
            <a:fillRect/>
          </a:stretch>
        </p:blipFill>
        <p:spPr>
          <a:xfrm>
            <a:off x="7188638" y="154950"/>
            <a:ext cx="1392851" cy="613200"/>
          </a:xfrm>
          <a:prstGeom prst="rect">
            <a:avLst/>
          </a:prstGeom>
          <a:noFill/>
          <a:ln>
            <a:noFill/>
          </a:ln>
        </p:spPr>
      </p:pic>
      <p:pic>
        <p:nvPicPr>
          <p:cNvPr id="86" name="Google Shape;86;p16"/>
          <p:cNvPicPr preferRelativeResize="0"/>
          <p:nvPr/>
        </p:nvPicPr>
        <p:blipFill>
          <a:blip r:embed="rId7">
            <a:alphaModFix/>
          </a:blip>
          <a:stretch>
            <a:fillRect/>
          </a:stretch>
        </p:blipFill>
        <p:spPr>
          <a:xfrm>
            <a:off x="5614638" y="160063"/>
            <a:ext cx="1392850" cy="602994"/>
          </a:xfrm>
          <a:prstGeom prst="rect">
            <a:avLst/>
          </a:prstGeom>
          <a:noFill/>
          <a:ln>
            <a:noFill/>
          </a:ln>
        </p:spPr>
      </p:pic>
      <p:pic>
        <p:nvPicPr>
          <p:cNvPr id="87" name="Google Shape;87;p16"/>
          <p:cNvPicPr preferRelativeResize="0"/>
          <p:nvPr/>
        </p:nvPicPr>
        <p:blipFill>
          <a:blip r:embed="rId8">
            <a:alphaModFix/>
          </a:blip>
          <a:stretch>
            <a:fillRect/>
          </a:stretch>
        </p:blipFill>
        <p:spPr>
          <a:xfrm>
            <a:off x="5086075" y="3249632"/>
            <a:ext cx="4042975" cy="1655518"/>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7"/>
          <p:cNvSpPr txBox="1"/>
          <p:nvPr>
            <p:ph type="title"/>
          </p:nvPr>
        </p:nvSpPr>
        <p:spPr>
          <a:xfrm>
            <a:off x="230325" y="235650"/>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2400"/>
              <a:t>Preprocessing</a:t>
            </a:r>
            <a:endParaRPr b="1" sz="2400"/>
          </a:p>
        </p:txBody>
      </p:sp>
      <p:sp>
        <p:nvSpPr>
          <p:cNvPr id="93" name="Google Shape;93;p17"/>
          <p:cNvSpPr txBox="1"/>
          <p:nvPr>
            <p:ph idx="1" type="body"/>
          </p:nvPr>
        </p:nvSpPr>
        <p:spPr>
          <a:xfrm>
            <a:off x="230325" y="1065900"/>
            <a:ext cx="3700500" cy="1722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rgbClr val="2F75B5"/>
                </a:solidFill>
                <a:latin typeface="Times New Roman"/>
                <a:ea typeface="Times New Roman"/>
                <a:cs typeface="Times New Roman"/>
                <a:sym typeface="Times New Roman"/>
              </a:rPr>
              <a:t>Preprocessing pipeline:</a:t>
            </a:r>
            <a:endParaRPr b="1" sz="1800">
              <a:solidFill>
                <a:srgbClr val="111827"/>
              </a:solidFill>
              <a:latin typeface="Times New Roman"/>
              <a:ea typeface="Times New Roman"/>
              <a:cs typeface="Times New Roman"/>
              <a:sym typeface="Times New Roman"/>
            </a:endParaRPr>
          </a:p>
          <a:p>
            <a:pPr indent="-342900" lvl="0" marL="457200" rtl="0" algn="l">
              <a:spcBef>
                <a:spcPts val="0"/>
              </a:spcBef>
              <a:spcAft>
                <a:spcPts val="0"/>
              </a:spcAft>
              <a:buClr>
                <a:srgbClr val="111827"/>
              </a:buClr>
              <a:buSzPts val="1800"/>
              <a:buFont typeface="Times New Roman"/>
              <a:buAutoNum type="arabicPeriod"/>
            </a:pPr>
            <a:r>
              <a:rPr b="1" lang="en" sz="1800">
                <a:solidFill>
                  <a:srgbClr val="111827"/>
                </a:solidFill>
                <a:latin typeface="Times New Roman"/>
                <a:ea typeface="Times New Roman"/>
                <a:cs typeface="Times New Roman"/>
                <a:sym typeface="Times New Roman"/>
              </a:rPr>
              <a:t>→ </a:t>
            </a:r>
            <a:r>
              <a:rPr b="1" lang="en" sz="1800">
                <a:solidFill>
                  <a:srgbClr val="111827"/>
                </a:solidFill>
                <a:latin typeface="Times New Roman"/>
                <a:ea typeface="Times New Roman"/>
                <a:cs typeface="Times New Roman"/>
                <a:sym typeface="Times New Roman"/>
              </a:rPr>
              <a:t>combine subject + body</a:t>
            </a:r>
            <a:endParaRPr b="1" sz="1800">
              <a:solidFill>
                <a:srgbClr val="111827"/>
              </a:solidFill>
              <a:latin typeface="Times New Roman"/>
              <a:ea typeface="Times New Roman"/>
              <a:cs typeface="Times New Roman"/>
              <a:sym typeface="Times New Roman"/>
            </a:endParaRPr>
          </a:p>
          <a:p>
            <a:pPr indent="-342900" lvl="0" marL="457200" rtl="0" algn="l">
              <a:spcBef>
                <a:spcPts val="0"/>
              </a:spcBef>
              <a:spcAft>
                <a:spcPts val="0"/>
              </a:spcAft>
              <a:buClr>
                <a:srgbClr val="111827"/>
              </a:buClr>
              <a:buSzPts val="1800"/>
              <a:buFont typeface="Times New Roman"/>
              <a:buAutoNum type="arabicPeriod"/>
            </a:pPr>
            <a:r>
              <a:rPr b="1" lang="en" sz="1800">
                <a:solidFill>
                  <a:srgbClr val="111827"/>
                </a:solidFill>
                <a:latin typeface="Times New Roman"/>
                <a:ea typeface="Times New Roman"/>
                <a:cs typeface="Times New Roman"/>
                <a:sym typeface="Times New Roman"/>
              </a:rPr>
              <a:t>→ handle missing values (N/A)</a:t>
            </a:r>
            <a:endParaRPr b="1" sz="1800">
              <a:solidFill>
                <a:srgbClr val="111827"/>
              </a:solidFill>
              <a:latin typeface="Times New Roman"/>
              <a:ea typeface="Times New Roman"/>
              <a:cs typeface="Times New Roman"/>
              <a:sym typeface="Times New Roman"/>
            </a:endParaRPr>
          </a:p>
          <a:p>
            <a:pPr indent="-342900" lvl="0" marL="457200" rtl="0" algn="l">
              <a:spcBef>
                <a:spcPts val="0"/>
              </a:spcBef>
              <a:spcAft>
                <a:spcPts val="0"/>
              </a:spcAft>
              <a:buClr>
                <a:srgbClr val="111827"/>
              </a:buClr>
              <a:buSzPts val="1800"/>
              <a:buFont typeface="Times New Roman"/>
              <a:buAutoNum type="arabicPeriod"/>
            </a:pPr>
            <a:r>
              <a:rPr b="1" lang="en" sz="1800">
                <a:solidFill>
                  <a:srgbClr val="111827"/>
                </a:solidFill>
                <a:latin typeface="Times New Roman"/>
                <a:ea typeface="Times New Roman"/>
                <a:cs typeface="Times New Roman"/>
                <a:sym typeface="Times New Roman"/>
              </a:rPr>
              <a:t>→ </a:t>
            </a:r>
            <a:r>
              <a:rPr b="1" lang="en" sz="1800">
                <a:solidFill>
                  <a:srgbClr val="111827"/>
                </a:solidFill>
                <a:latin typeface="Times New Roman"/>
                <a:ea typeface="Times New Roman"/>
                <a:cs typeface="Times New Roman"/>
                <a:sym typeface="Times New Roman"/>
              </a:rPr>
              <a:t>stratified 80/20 split</a:t>
            </a:r>
            <a:endParaRPr b="1" sz="1800">
              <a:solidFill>
                <a:srgbClr val="111827"/>
              </a:solidFill>
              <a:latin typeface="Times New Roman"/>
              <a:ea typeface="Times New Roman"/>
              <a:cs typeface="Times New Roman"/>
              <a:sym typeface="Times New Roman"/>
            </a:endParaRPr>
          </a:p>
          <a:p>
            <a:pPr indent="-342900" lvl="0" marL="457200" rtl="0" algn="l">
              <a:spcBef>
                <a:spcPts val="0"/>
              </a:spcBef>
              <a:spcAft>
                <a:spcPts val="0"/>
              </a:spcAft>
              <a:buClr>
                <a:srgbClr val="111827"/>
              </a:buClr>
              <a:buSzPts val="1800"/>
              <a:buFont typeface="Times New Roman"/>
              <a:buAutoNum type="arabicPeriod"/>
            </a:pPr>
            <a:r>
              <a:rPr b="1" lang="en" sz="1800">
                <a:solidFill>
                  <a:srgbClr val="111827"/>
                </a:solidFill>
                <a:latin typeface="Times New Roman"/>
                <a:ea typeface="Times New Roman"/>
                <a:cs typeface="Times New Roman"/>
                <a:sym typeface="Times New Roman"/>
              </a:rPr>
              <a:t>→ vectorize for each model</a:t>
            </a:r>
            <a:endParaRPr b="1" sz="1800">
              <a:solidFill>
                <a:srgbClr val="2F75B5"/>
              </a:solidFill>
              <a:latin typeface="Times New Roman"/>
              <a:ea typeface="Times New Roman"/>
              <a:cs typeface="Times New Roman"/>
              <a:sym typeface="Times New Roman"/>
            </a:endParaRPr>
          </a:p>
        </p:txBody>
      </p:sp>
      <p:sp>
        <p:nvSpPr>
          <p:cNvPr id="94" name="Google Shape;94;p17"/>
          <p:cNvSpPr txBox="1"/>
          <p:nvPr>
            <p:ph idx="2" type="body"/>
          </p:nvPr>
        </p:nvSpPr>
        <p:spPr>
          <a:xfrm>
            <a:off x="178750" y="3005850"/>
            <a:ext cx="4846500" cy="1850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600">
                <a:solidFill>
                  <a:srgbClr val="2F75B5"/>
                </a:solidFill>
                <a:latin typeface="Times New Roman"/>
                <a:ea typeface="Times New Roman"/>
                <a:cs typeface="Times New Roman"/>
                <a:sym typeface="Times New Roman"/>
              </a:rPr>
              <a:t>Why this matters</a:t>
            </a:r>
            <a:endParaRPr b="1" sz="1600">
              <a:solidFill>
                <a:srgbClr val="2F75B5"/>
              </a:solidFill>
              <a:latin typeface="Times New Roman"/>
              <a:ea typeface="Times New Roman"/>
              <a:cs typeface="Times New Roman"/>
              <a:sym typeface="Times New Roman"/>
            </a:endParaRPr>
          </a:p>
          <a:p>
            <a:pPr indent="-330200" lvl="0" marL="457200" rtl="0" algn="l">
              <a:spcBef>
                <a:spcPts val="0"/>
              </a:spcBef>
              <a:spcAft>
                <a:spcPts val="0"/>
              </a:spcAft>
              <a:buClr>
                <a:srgbClr val="111827"/>
              </a:buClr>
              <a:buSzPts val="1600"/>
              <a:buFont typeface="Times New Roman"/>
              <a:buChar char="●"/>
            </a:pPr>
            <a:r>
              <a:rPr lang="en" sz="1600">
                <a:solidFill>
                  <a:srgbClr val="111827"/>
                </a:solidFill>
                <a:latin typeface="Times New Roman"/>
                <a:ea typeface="Times New Roman"/>
                <a:cs typeface="Times New Roman"/>
                <a:sym typeface="Times New Roman"/>
              </a:rPr>
              <a:t>Same train/test structure for all model families</a:t>
            </a:r>
            <a:endParaRPr sz="1600">
              <a:solidFill>
                <a:srgbClr val="111827"/>
              </a:solidFill>
              <a:latin typeface="Times New Roman"/>
              <a:ea typeface="Times New Roman"/>
              <a:cs typeface="Times New Roman"/>
              <a:sym typeface="Times New Roman"/>
            </a:endParaRPr>
          </a:p>
          <a:p>
            <a:pPr indent="-330200" lvl="0" marL="457200" rtl="0" algn="l">
              <a:spcBef>
                <a:spcPts val="0"/>
              </a:spcBef>
              <a:spcAft>
                <a:spcPts val="0"/>
              </a:spcAft>
              <a:buClr>
                <a:srgbClr val="111827"/>
              </a:buClr>
              <a:buSzPts val="1600"/>
              <a:buFont typeface="Times New Roman"/>
              <a:buChar char="●"/>
            </a:pPr>
            <a:r>
              <a:rPr lang="en" sz="1600">
                <a:solidFill>
                  <a:srgbClr val="111827"/>
                </a:solidFill>
                <a:latin typeface="Times New Roman"/>
                <a:ea typeface="Times New Roman"/>
                <a:cs typeface="Times New Roman"/>
                <a:sym typeface="Times New Roman"/>
              </a:rPr>
              <a:t>TF-IDF SVM/NN models use sparse word features</a:t>
            </a:r>
            <a:endParaRPr sz="1600">
              <a:solidFill>
                <a:srgbClr val="111827"/>
              </a:solidFill>
              <a:latin typeface="Times New Roman"/>
              <a:ea typeface="Times New Roman"/>
              <a:cs typeface="Times New Roman"/>
              <a:sym typeface="Times New Roman"/>
            </a:endParaRPr>
          </a:p>
          <a:p>
            <a:pPr indent="-330200" lvl="0" marL="457200" rtl="0" algn="l">
              <a:spcBef>
                <a:spcPts val="0"/>
              </a:spcBef>
              <a:spcAft>
                <a:spcPts val="0"/>
              </a:spcAft>
              <a:buClr>
                <a:srgbClr val="111827"/>
              </a:buClr>
              <a:buSzPts val="1600"/>
              <a:buFont typeface="Times New Roman"/>
              <a:buChar char="●"/>
            </a:pPr>
            <a:r>
              <a:rPr lang="en" sz="1600">
                <a:solidFill>
                  <a:srgbClr val="111827"/>
                </a:solidFill>
                <a:latin typeface="Times New Roman"/>
                <a:ea typeface="Times New Roman"/>
                <a:cs typeface="Times New Roman"/>
                <a:sym typeface="Times New Roman"/>
              </a:rPr>
              <a:t>BERT + NN uses contextual text embeddings</a:t>
            </a:r>
            <a:endParaRPr sz="1600">
              <a:solidFill>
                <a:srgbClr val="111827"/>
              </a:solidFill>
              <a:latin typeface="Times New Roman"/>
              <a:ea typeface="Times New Roman"/>
              <a:cs typeface="Times New Roman"/>
              <a:sym typeface="Times New Roman"/>
            </a:endParaRPr>
          </a:p>
          <a:p>
            <a:pPr indent="-330200" lvl="0" marL="457200" rtl="0" algn="l">
              <a:spcBef>
                <a:spcPts val="0"/>
              </a:spcBef>
              <a:spcAft>
                <a:spcPts val="0"/>
              </a:spcAft>
              <a:buClr>
                <a:srgbClr val="111827"/>
              </a:buClr>
              <a:buSzPts val="1600"/>
              <a:buFont typeface="Times New Roman"/>
              <a:buChar char="●"/>
            </a:pPr>
            <a:r>
              <a:rPr lang="en" sz="1600">
                <a:solidFill>
                  <a:srgbClr val="111827"/>
                </a:solidFill>
                <a:latin typeface="Times New Roman"/>
                <a:ea typeface="Times New Roman"/>
                <a:cs typeface="Times New Roman"/>
                <a:sym typeface="Times New Roman"/>
              </a:rPr>
              <a:t>Stratified split keeps label ratios stable</a:t>
            </a:r>
            <a:endParaRPr sz="1600">
              <a:latin typeface="Times New Roman"/>
              <a:ea typeface="Times New Roman"/>
              <a:cs typeface="Times New Roman"/>
              <a:sym typeface="Times New Roman"/>
            </a:endParaRPr>
          </a:p>
        </p:txBody>
      </p:sp>
      <p:pic>
        <p:nvPicPr>
          <p:cNvPr id="95" name="Google Shape;95;p17"/>
          <p:cNvPicPr preferRelativeResize="0"/>
          <p:nvPr/>
        </p:nvPicPr>
        <p:blipFill>
          <a:blip r:embed="rId3">
            <a:alphaModFix/>
          </a:blip>
          <a:stretch>
            <a:fillRect/>
          </a:stretch>
        </p:blipFill>
        <p:spPr>
          <a:xfrm>
            <a:off x="4004798" y="723238"/>
            <a:ext cx="5023454" cy="2065575"/>
          </a:xfrm>
          <a:prstGeom prst="rect">
            <a:avLst/>
          </a:prstGeom>
          <a:noFill/>
          <a:ln>
            <a:noFill/>
          </a:ln>
        </p:spPr>
      </p:pic>
      <p:sp>
        <p:nvSpPr>
          <p:cNvPr id="96" name="Google Shape;96;p17"/>
          <p:cNvSpPr txBox="1"/>
          <p:nvPr>
            <p:ph idx="1" type="body"/>
          </p:nvPr>
        </p:nvSpPr>
        <p:spPr>
          <a:xfrm>
            <a:off x="4677825" y="2837170"/>
            <a:ext cx="4073100" cy="702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111827"/>
                </a:solidFill>
                <a:latin typeface="Times New Roman"/>
                <a:ea typeface="Times New Roman"/>
                <a:cs typeface="Times New Roman"/>
                <a:sym typeface="Times New Roman"/>
              </a:rPr>
              <a:t>Some metadata/tag fields are very sparse, so we focus on the reliable text fields: subject and body.</a:t>
            </a:r>
            <a:endParaRPr>
              <a:solidFill>
                <a:srgbClr val="111827"/>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18"/>
          <p:cNvSpPr txBox="1"/>
          <p:nvPr>
            <p:ph type="title"/>
          </p:nvPr>
        </p:nvSpPr>
        <p:spPr>
          <a:xfrm>
            <a:off x="512700" y="1893300"/>
            <a:ext cx="8118600" cy="1522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TF-IDF + SVM</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19"/>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TF_IDF</a:t>
            </a:r>
            <a:endParaRPr/>
          </a:p>
        </p:txBody>
      </p:sp>
      <p:sp>
        <p:nvSpPr>
          <p:cNvPr id="107" name="Google Shape;107;p19"/>
          <p:cNvSpPr txBox="1"/>
          <p:nvPr>
            <p:ph idx="1" type="body"/>
          </p:nvPr>
        </p:nvSpPr>
        <p:spPr>
          <a:xfrm>
            <a:off x="311700" y="1171675"/>
            <a:ext cx="3999900" cy="33972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b="1" lang="en">
                <a:solidFill>
                  <a:srgbClr val="1D2733"/>
                </a:solidFill>
              </a:rPr>
              <a:t>Term Frequency (TF)</a:t>
            </a:r>
            <a:r>
              <a:rPr lang="en"/>
              <a:t>: measures how often a word appears in a document. </a:t>
            </a:r>
            <a:endParaRPr/>
          </a:p>
          <a:p>
            <a:pPr indent="-304800" lvl="1" marL="914400" rtl="0" algn="l">
              <a:spcBef>
                <a:spcPts val="0"/>
              </a:spcBef>
              <a:spcAft>
                <a:spcPts val="0"/>
              </a:spcAft>
              <a:buClr>
                <a:srgbClr val="1F8A70"/>
              </a:buClr>
              <a:buSzPts val="1200"/>
              <a:buChar char="○"/>
            </a:pPr>
            <a:r>
              <a:rPr lang="en">
                <a:solidFill>
                  <a:srgbClr val="1F8A70"/>
                </a:solidFill>
              </a:rPr>
              <a:t>Higher TF —&gt; more importance of a word</a:t>
            </a:r>
            <a:endParaRPr>
              <a:solidFill>
                <a:srgbClr val="1F8A70"/>
              </a:solidFill>
            </a:endParaRPr>
          </a:p>
          <a:p>
            <a:pPr indent="0" lvl="0" marL="914400" rtl="0" algn="l">
              <a:spcBef>
                <a:spcPts val="1600"/>
              </a:spcBef>
              <a:spcAft>
                <a:spcPts val="0"/>
              </a:spcAft>
              <a:buNone/>
            </a:pPr>
            <a:r>
              <a:t/>
            </a:r>
            <a:endParaRPr/>
          </a:p>
          <a:p>
            <a:pPr indent="-317500" lvl="0" marL="457200" rtl="0" algn="l">
              <a:spcBef>
                <a:spcPts val="1600"/>
              </a:spcBef>
              <a:spcAft>
                <a:spcPts val="0"/>
              </a:spcAft>
              <a:buSzPts val="1400"/>
              <a:buChar char="●"/>
            </a:pPr>
            <a:r>
              <a:rPr b="1" lang="en"/>
              <a:t>Inverse Document Frequency (IDF)</a:t>
            </a:r>
            <a:r>
              <a:rPr lang="en"/>
              <a:t>: reduces the importance of words that appear in many documents, such as “the” or “and.” </a:t>
            </a:r>
            <a:endParaRPr/>
          </a:p>
          <a:p>
            <a:pPr indent="-304800" lvl="1" marL="914400" rtl="0" algn="l">
              <a:spcBef>
                <a:spcPts val="0"/>
              </a:spcBef>
              <a:spcAft>
                <a:spcPts val="0"/>
              </a:spcAft>
              <a:buClr>
                <a:srgbClr val="04A1FF"/>
              </a:buClr>
              <a:buSzPts val="1200"/>
              <a:buChar char="○"/>
            </a:pPr>
            <a:r>
              <a:rPr lang="en">
                <a:solidFill>
                  <a:srgbClr val="04A1FF"/>
                </a:solidFill>
              </a:rPr>
              <a:t>Higher DF —&gt; Lower IDF —&gt; less importance of a word</a:t>
            </a:r>
            <a:endParaRPr>
              <a:solidFill>
                <a:srgbClr val="04A1FF"/>
              </a:solidFill>
            </a:endParaRPr>
          </a:p>
        </p:txBody>
      </p:sp>
      <p:sp>
        <p:nvSpPr>
          <p:cNvPr id="108" name="Google Shape;108;p19"/>
          <p:cNvSpPr txBox="1"/>
          <p:nvPr>
            <p:ph idx="2" type="body"/>
          </p:nvPr>
        </p:nvSpPr>
        <p:spPr>
          <a:xfrm>
            <a:off x="4832400" y="1171675"/>
            <a:ext cx="4311600" cy="33972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
                <a:solidFill>
                  <a:srgbClr val="FF0000"/>
                </a:solidFill>
              </a:rPr>
              <a:t>TF-IDF</a:t>
            </a:r>
            <a:r>
              <a:rPr lang="en"/>
              <a:t>: </a:t>
            </a:r>
            <a:r>
              <a:rPr lang="en" u="sng"/>
              <a:t>combines the value of two measurements.</a:t>
            </a:r>
            <a:endParaRPr u="sng"/>
          </a:p>
          <a:p>
            <a:pPr indent="0" lvl="0" marL="0" rtl="0" algn="l">
              <a:spcBef>
                <a:spcPts val="1600"/>
              </a:spcBef>
              <a:spcAft>
                <a:spcPts val="0"/>
              </a:spcAft>
              <a:buNone/>
            </a:pPr>
            <a:r>
              <a:rPr i="1" lang="en">
                <a:solidFill>
                  <a:srgbClr val="FF9900"/>
                </a:solidFill>
              </a:rPr>
              <a:t>Words are important when they are frequent in one document but rare across corpus.</a:t>
            </a:r>
            <a:endParaRPr i="1">
              <a:solidFill>
                <a:srgbClr val="FF9900"/>
              </a:solidFill>
            </a:endParaRPr>
          </a:p>
          <a:p>
            <a:pPr indent="0" lvl="0" marL="0" rtl="0" algn="l">
              <a:spcBef>
                <a:spcPts val="1600"/>
              </a:spcBef>
              <a:spcAft>
                <a:spcPts val="0"/>
              </a:spcAft>
              <a:buNone/>
            </a:pPr>
            <a:r>
              <a:t/>
            </a:r>
            <a:endParaRPr/>
          </a:p>
          <a:p>
            <a:pPr indent="0" lvl="0" marL="0" rtl="0" algn="l">
              <a:spcBef>
                <a:spcPts val="1600"/>
              </a:spcBef>
              <a:spcAft>
                <a:spcPts val="0"/>
              </a:spcAft>
              <a:buNone/>
            </a:pPr>
            <a:r>
              <a:rPr lang="en"/>
              <a:t>TF-IDF features visualization: </a:t>
            </a:r>
            <a:endParaRPr/>
          </a:p>
          <a:p>
            <a:pPr indent="0" lvl="0" marL="0" rtl="0" algn="l">
              <a:spcBef>
                <a:spcPts val="1600"/>
              </a:spcBef>
              <a:spcAft>
                <a:spcPts val="0"/>
              </a:spcAft>
              <a:buClr>
                <a:schemeClr val="dk1"/>
              </a:buClr>
              <a:buSzPts val="1100"/>
              <a:buFont typeface="Arial"/>
              <a:buNone/>
            </a:pPr>
            <a:r>
              <a:t/>
            </a:r>
            <a:endParaRPr/>
          </a:p>
          <a:p>
            <a:pPr indent="0" lvl="0" marL="0" rtl="0" algn="l">
              <a:spcBef>
                <a:spcPts val="1600"/>
              </a:spcBef>
              <a:spcAft>
                <a:spcPts val="1600"/>
              </a:spcAft>
              <a:buNone/>
            </a:pPr>
            <a:r>
              <a:t/>
            </a:r>
            <a:endParaRPr/>
          </a:p>
        </p:txBody>
      </p:sp>
      <p:pic>
        <p:nvPicPr>
          <p:cNvPr descr="&lt;math-flow&gt;{&quot;id&quot;:&quot;e3717fc8-8169-44fb-b6bf-fd52ce005287&quot;,&quot;latex&quot;:&quot;\\[\n\\mathrm{TF}(t,d)=\\frac{\\text{Number of times term }t\\text{ appears in document }d}{\\text{Total number of terms in document }d}\n\\]&quot;,&quot;action&quot;:&quot;insert&quot;,&quot;timestamp&quot;:1784848013930,&quot;scale&quot;:1,&quot;bgColor&quot;:&quot;transparent&quot;,&quot;version&quot;:2}&lt;/math-flow&gt;" id="109" name="Google Shape;109;p19"/>
          <p:cNvPicPr preferRelativeResize="0"/>
          <p:nvPr/>
        </p:nvPicPr>
        <p:blipFill>
          <a:blip r:embed="rId3">
            <a:alphaModFix/>
          </a:blip>
          <a:stretch>
            <a:fillRect/>
          </a:stretch>
        </p:blipFill>
        <p:spPr>
          <a:xfrm>
            <a:off x="916825" y="2060155"/>
            <a:ext cx="3394775" cy="309895"/>
          </a:xfrm>
          <a:prstGeom prst="rect">
            <a:avLst/>
          </a:prstGeom>
          <a:noFill/>
          <a:ln>
            <a:noFill/>
          </a:ln>
        </p:spPr>
      </p:pic>
      <p:pic>
        <p:nvPicPr>
          <p:cNvPr descr="&lt;math-flow&gt;{&quot;id&quot;:&quot;b0b8a080-7929-4477-9368-0120d97c1e2e&quot;,&quot;latex&quot;:&quot;\\[\n\\mathrm{IDF}(t)=\\log\\left(\\frac{N}{\\mathrm{DF}(t)}\\right)\n\\]&quot;,&quot;action&quot;:&quot;insert&quot;,&quot;timestamp&quot;:1784848087786,&quot;scale&quot;:1,&quot;bgColor&quot;:&quot;transparent&quot;,&quot;version&quot;:2}&lt;/math-flow&gt;" id="110" name="Google Shape;110;p19"/>
          <p:cNvPicPr preferRelativeResize="0"/>
          <p:nvPr/>
        </p:nvPicPr>
        <p:blipFill>
          <a:blip r:embed="rId4">
            <a:alphaModFix/>
          </a:blip>
          <a:stretch>
            <a:fillRect/>
          </a:stretch>
        </p:blipFill>
        <p:spPr>
          <a:xfrm>
            <a:off x="841788" y="4146750"/>
            <a:ext cx="1637875" cy="422125"/>
          </a:xfrm>
          <a:prstGeom prst="rect">
            <a:avLst/>
          </a:prstGeom>
          <a:noFill/>
          <a:ln>
            <a:noFill/>
          </a:ln>
        </p:spPr>
      </p:pic>
      <p:pic>
        <p:nvPicPr>
          <p:cNvPr descr="&lt;math-flow&gt;{&quot;id&quot;:&quot;b7671b92-2044-4abc-b4e6-5d218e230e39&quot;,&quot;latex&quot;:&quot;\\[\n\\mathrm{DF}(t)=\\sum_{d\\in\\mathcal{D}}\\mathbf{1}\\!\\left[t\\in d\\right]\n\\]&quot;,&quot;action&quot;:&quot;insert&quot;,&quot;timestamp&quot;:1784848159538,&quot;scale&quot;:1,&quot;bgColor&quot;:&quot;transparent&quot;,&quot;version&quot;:2}&lt;/math-flow&gt;" id="111" name="Google Shape;111;p19"/>
          <p:cNvPicPr preferRelativeResize="0"/>
          <p:nvPr/>
        </p:nvPicPr>
        <p:blipFill>
          <a:blip r:embed="rId5">
            <a:alphaModFix/>
          </a:blip>
          <a:stretch>
            <a:fillRect/>
          </a:stretch>
        </p:blipFill>
        <p:spPr>
          <a:xfrm>
            <a:off x="2748800" y="4220100"/>
            <a:ext cx="1523321" cy="422125"/>
          </a:xfrm>
          <a:prstGeom prst="rect">
            <a:avLst/>
          </a:prstGeom>
          <a:noFill/>
          <a:ln>
            <a:noFill/>
          </a:ln>
        </p:spPr>
      </p:pic>
      <p:pic>
        <p:nvPicPr>
          <p:cNvPr descr="&lt;math-flow&gt;{&quot;id&quot;:&quot;415e29e3-3d49-4bcf-957a-5f33a78c5e04&quot;,&quot;latex&quot;:&quot;\\[\n\\mathrm{TFIDF}(t,d)=\\mathrm{TF}(t,d)\\times\\mathrm{IDF}(t)\n\\]&quot;,&quot;action&quot;:&quot;insert&quot;,&quot;timestamp&quot;:1784848466067,&quot;scale&quot;:1,&quot;bgColor&quot;:&quot;transparent&quot;,&quot;version&quot;:2}&lt;/math-flow&gt;" id="112" name="Google Shape;112;p19"/>
          <p:cNvPicPr preferRelativeResize="0"/>
          <p:nvPr/>
        </p:nvPicPr>
        <p:blipFill>
          <a:blip r:embed="rId6">
            <a:alphaModFix/>
          </a:blip>
          <a:stretch>
            <a:fillRect/>
          </a:stretch>
        </p:blipFill>
        <p:spPr>
          <a:xfrm>
            <a:off x="5697563" y="2571738"/>
            <a:ext cx="2581275" cy="219075"/>
          </a:xfrm>
          <a:prstGeom prst="rect">
            <a:avLst/>
          </a:prstGeom>
          <a:noFill/>
          <a:ln>
            <a:noFill/>
          </a:ln>
        </p:spPr>
      </p:pic>
      <p:pic>
        <p:nvPicPr>
          <p:cNvPr id="113" name="Google Shape;113;p19"/>
          <p:cNvPicPr preferRelativeResize="0"/>
          <p:nvPr/>
        </p:nvPicPr>
        <p:blipFill>
          <a:blip r:embed="rId7">
            <a:alphaModFix/>
          </a:blip>
          <a:stretch>
            <a:fillRect/>
          </a:stretch>
        </p:blipFill>
        <p:spPr>
          <a:xfrm>
            <a:off x="4877938" y="3429025"/>
            <a:ext cx="4220524" cy="9272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0"/>
          <p:cNvSpPr txBox="1"/>
          <p:nvPr>
            <p:ph type="title"/>
          </p:nvPr>
        </p:nvSpPr>
        <p:spPr>
          <a:xfrm>
            <a:off x="311700" y="445025"/>
            <a:ext cx="57852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Support Vector Machine (SVM)</a:t>
            </a:r>
            <a:endParaRPr/>
          </a:p>
        </p:txBody>
      </p:sp>
      <p:sp>
        <p:nvSpPr>
          <p:cNvPr id="119" name="Google Shape;119;p20"/>
          <p:cNvSpPr txBox="1"/>
          <p:nvPr>
            <p:ph idx="1" type="body"/>
          </p:nvPr>
        </p:nvSpPr>
        <p:spPr>
          <a:xfrm>
            <a:off x="311700" y="1058225"/>
            <a:ext cx="5366400" cy="33972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b="1" lang="en"/>
              <a:t>Margin (𝛾)</a:t>
            </a:r>
            <a:r>
              <a:rPr lang="en"/>
              <a:t>: the distance between the decision boundary 𝑯</a:t>
            </a:r>
            <a:r>
              <a:rPr baseline="-25000" lang="en"/>
              <a:t>w,b</a:t>
            </a:r>
            <a:r>
              <a:rPr lang="en"/>
              <a:t> and the </a:t>
            </a:r>
            <a:r>
              <a:rPr lang="en"/>
              <a:t>closest data points from each class (</a:t>
            </a:r>
            <a:r>
              <a:rPr lang="en">
                <a:solidFill>
                  <a:schemeClr val="lt2"/>
                </a:solidFill>
              </a:rPr>
              <a:t>support vectors</a:t>
            </a:r>
            <a:r>
              <a:rPr lang="en"/>
              <a:t>).</a:t>
            </a:r>
            <a:endParaRPr/>
          </a:p>
          <a:p>
            <a:pPr indent="0" lvl="0" marL="457200" rtl="0" algn="l">
              <a:spcBef>
                <a:spcPts val="1600"/>
              </a:spcBef>
              <a:spcAft>
                <a:spcPts val="0"/>
              </a:spcAft>
              <a:buNone/>
            </a:pPr>
            <a:r>
              <a:t/>
            </a:r>
            <a:endParaRPr/>
          </a:p>
          <a:p>
            <a:pPr indent="-317500" lvl="0" marL="457200" rtl="0" algn="l">
              <a:spcBef>
                <a:spcPts val="1600"/>
              </a:spcBef>
              <a:spcAft>
                <a:spcPts val="0"/>
              </a:spcAft>
              <a:buSzPts val="1400"/>
              <a:buChar char="●"/>
            </a:pPr>
            <a:r>
              <a:rPr b="1" lang="en"/>
              <a:t>Linear </a:t>
            </a:r>
            <a:r>
              <a:rPr b="1" lang="en"/>
              <a:t>SVM Objective</a:t>
            </a:r>
            <a:r>
              <a:rPr lang="en"/>
              <a:t>: find the optimal decision boundary </a:t>
            </a:r>
            <a:r>
              <a:rPr lang="en"/>
              <a:t>𝑯</a:t>
            </a:r>
            <a:r>
              <a:rPr baseline="-25000" lang="en"/>
              <a:t>w,b </a:t>
            </a:r>
            <a:r>
              <a:rPr lang="en"/>
              <a:t>that “</a:t>
            </a:r>
            <a:r>
              <a:rPr lang="en">
                <a:solidFill>
                  <a:srgbClr val="FF0000"/>
                </a:solidFill>
              </a:rPr>
              <a:t>best</a:t>
            </a:r>
            <a:r>
              <a:rPr lang="en"/>
              <a:t>” separating separating the classes of data.</a:t>
            </a:r>
            <a:endParaRPr/>
          </a:p>
          <a:p>
            <a:pPr indent="-317500" lvl="1" marL="914400" rtl="0" algn="l">
              <a:spcBef>
                <a:spcPts val="1600"/>
              </a:spcBef>
              <a:spcAft>
                <a:spcPts val="0"/>
              </a:spcAft>
              <a:buSzPts val="1400"/>
              <a:buChar char="○"/>
            </a:pPr>
            <a:r>
              <a:rPr lang="en" sz="1400"/>
              <a:t>“Best”: </a:t>
            </a:r>
            <a:r>
              <a:rPr lang="en" sz="1400">
                <a:solidFill>
                  <a:srgbClr val="FF0000"/>
                </a:solidFill>
              </a:rPr>
              <a:t>maximize the margin </a:t>
            </a:r>
            <a:r>
              <a:rPr lang="en" sz="1400">
                <a:solidFill>
                  <a:srgbClr val="4A86E8"/>
                </a:solidFill>
              </a:rPr>
              <a:t>(to minimize the likelihood of error on unseen data )</a:t>
            </a:r>
            <a:endParaRPr sz="1400">
              <a:solidFill>
                <a:srgbClr val="FF0000"/>
              </a:solidFill>
            </a:endParaRPr>
          </a:p>
          <a:p>
            <a:pPr indent="-317500" lvl="0" marL="457200" rtl="0" algn="l">
              <a:spcBef>
                <a:spcPts val="1600"/>
              </a:spcBef>
              <a:spcAft>
                <a:spcPts val="1600"/>
              </a:spcAft>
              <a:buSzPts val="1400"/>
              <a:buChar char="●"/>
            </a:pPr>
            <a:r>
              <a:rPr b="1" lang="en"/>
              <a:t>Linear SVM Primal Formulation</a:t>
            </a:r>
            <a:r>
              <a:rPr lang="en"/>
              <a:t>: optimized by Quadratic Programming (QP) Algo </a:t>
            </a:r>
            <a:endParaRPr/>
          </a:p>
        </p:txBody>
      </p:sp>
      <p:pic>
        <p:nvPicPr>
          <p:cNvPr descr="&lt;math-flow&gt;{&quot;id&quot;:&quot;2352a34c-a2a1-4304-9346-4969268db201&quot;,&quot;latex&quot;:&quot;\\[\n\\gamma=\\min_{i=1,\\ldots,n}\\frac{y_{i}\\left(w^{\\top}x_{i}+b\\right)}{\\lVert w\\rVert},\\qquad y_{i}\\in\\{-1,+1\\}\n\\]&quot;,&quot;action&quot;:&quot;insert&quot;,&quot;timestamp&quot;:1784787572145,&quot;scale&quot;:1,&quot;bgColor&quot;:&quot;transparent&quot;,&quot;version&quot;:2}&lt;/math-flow&gt;" id="120" name="Google Shape;120;p20"/>
          <p:cNvPicPr preferRelativeResize="0"/>
          <p:nvPr/>
        </p:nvPicPr>
        <p:blipFill>
          <a:blip r:embed="rId3">
            <a:alphaModFix/>
          </a:blip>
          <a:stretch>
            <a:fillRect/>
          </a:stretch>
        </p:blipFill>
        <p:spPr>
          <a:xfrm>
            <a:off x="1503825" y="1685750"/>
            <a:ext cx="2982150" cy="431725"/>
          </a:xfrm>
          <a:prstGeom prst="rect">
            <a:avLst/>
          </a:prstGeom>
          <a:noFill/>
          <a:ln>
            <a:noFill/>
          </a:ln>
        </p:spPr>
      </p:pic>
      <p:pic>
        <p:nvPicPr>
          <p:cNvPr id="121" name="Google Shape;121;p20"/>
          <p:cNvPicPr preferRelativeResize="0"/>
          <p:nvPr/>
        </p:nvPicPr>
        <p:blipFill>
          <a:blip r:embed="rId4">
            <a:alphaModFix/>
          </a:blip>
          <a:stretch>
            <a:fillRect/>
          </a:stretch>
        </p:blipFill>
        <p:spPr>
          <a:xfrm>
            <a:off x="5803025" y="1386338"/>
            <a:ext cx="3161100" cy="2370825"/>
          </a:xfrm>
          <a:prstGeom prst="rect">
            <a:avLst/>
          </a:prstGeom>
          <a:noFill/>
          <a:ln>
            <a:noFill/>
          </a:ln>
        </p:spPr>
      </p:pic>
      <p:pic>
        <p:nvPicPr>
          <p:cNvPr descr="&lt;math-flow&gt;{&quot;id&quot;:&quot;90ba4471-2e50-40ee-b84f-4d9414ac67a5&quot;,&quot;latex&quot;:&quot;\\[\n\\{w^{*},b^{*}\\}=\\underset{w,b}{\\operatorname{\\mathrm{arg\\,max}}}\\left(\\min_{i=1,\\ldots,n}\\frac{y_{i}\\left(w^{\\top}x_{i}+b\\right)}{\\lVert w\\rVert}\\right)\n\\]&quot;,&quot;action&quot;:&quot;insert&quot;,&quot;timestamp&quot;:1784787948646,&quot;scale&quot;:1,&quot;bgColor&quot;:&quot;transparent&quot;,&quot;version&quot;:2}&lt;/math-flow&gt;" id="122" name="Google Shape;122;p20"/>
          <p:cNvPicPr preferRelativeResize="0"/>
          <p:nvPr/>
        </p:nvPicPr>
        <p:blipFill>
          <a:blip r:embed="rId5">
            <a:alphaModFix/>
          </a:blip>
          <a:stretch>
            <a:fillRect/>
          </a:stretch>
        </p:blipFill>
        <p:spPr>
          <a:xfrm>
            <a:off x="3160348" y="4027723"/>
            <a:ext cx="2906687" cy="485775"/>
          </a:xfrm>
          <a:prstGeom prst="rect">
            <a:avLst/>
          </a:prstGeom>
          <a:noFill/>
          <a:ln>
            <a:noFill/>
          </a:ln>
        </p:spPr>
      </p:pic>
      <p:pic>
        <p:nvPicPr>
          <p:cNvPr descr="&lt;math-flow&gt;{&quot;id&quot;:&quot;d669c55f-bb20-4146-b7af-433336e721a8&quot;,&quot;latex&quot;:&quot;\\[\n\\{w^{*},b^{*}\\}=\\underset{w,b}{\\operatorname{\\mathrm{arg\\,min}}}\\ \\frac12\\lVert w\\rVert^2\\quad\\text{subject to}\\quad y_{i}\\left(w^{\\top}x_{i}+b\\right)\\ge1,\\qquad i=1,\\ldots,n\n\\]&quot;,&quot;action&quot;:&quot;insert&quot;,&quot;timestamp&quot;:1784788060995,&quot;scale&quot;:1,&quot;bgColor&quot;:&quot;transparent&quot;,&quot;version&quot;:2}&lt;/math-flow&gt;" id="123" name="Google Shape;123;p20"/>
          <p:cNvPicPr preferRelativeResize="0"/>
          <p:nvPr/>
        </p:nvPicPr>
        <p:blipFill>
          <a:blip r:embed="rId6">
            <a:alphaModFix/>
          </a:blip>
          <a:stretch>
            <a:fillRect/>
          </a:stretch>
        </p:blipFill>
        <p:spPr>
          <a:xfrm>
            <a:off x="1976775" y="4513500"/>
            <a:ext cx="5273816" cy="431725"/>
          </a:xfrm>
          <a:prstGeom prst="rect">
            <a:avLst/>
          </a:prstGeom>
          <a:noFill/>
          <a:ln>
            <a:noFill/>
          </a:ln>
        </p:spPr>
      </p:pic>
      <p:sp>
        <p:nvSpPr>
          <p:cNvPr id="124" name="Google Shape;124;p20"/>
          <p:cNvSpPr/>
          <p:nvPr/>
        </p:nvSpPr>
        <p:spPr>
          <a:xfrm flipH="1">
            <a:off x="7547100" y="4132800"/>
            <a:ext cx="513300" cy="613200"/>
          </a:xfrm>
          <a:prstGeom prst="curvedRightArrow">
            <a:avLst>
              <a:gd fmla="val 25000" name="adj1"/>
              <a:gd fmla="val 50000" name="adj2"/>
              <a:gd fmla="val 25000" name="adj3"/>
            </a:avLst>
          </a:prstGeom>
          <a:solidFill>
            <a:srgbClr val="FF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00FF"/>
              </a:solidFill>
              <a:latin typeface="Old Standard TT"/>
              <a:ea typeface="Old Standard TT"/>
              <a:cs typeface="Old Standard TT"/>
              <a:sym typeface="Old Standard TT"/>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1"/>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Kernel SVM</a:t>
            </a:r>
            <a:endParaRPr/>
          </a:p>
        </p:txBody>
      </p:sp>
      <p:sp>
        <p:nvSpPr>
          <p:cNvPr id="130" name="Google Shape;130;p21"/>
          <p:cNvSpPr txBox="1"/>
          <p:nvPr>
            <p:ph idx="1" type="body"/>
          </p:nvPr>
        </p:nvSpPr>
        <p:spPr>
          <a:xfrm>
            <a:off x="311700" y="1162500"/>
            <a:ext cx="5362200" cy="339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i="1" lang="en"/>
              <a:t>Q: </a:t>
            </a:r>
            <a:r>
              <a:rPr b="1" i="1" lang="en"/>
              <a:t>What if the classes are not potentially linearly separable?</a:t>
            </a:r>
            <a:endParaRPr b="1" i="1"/>
          </a:p>
          <a:p>
            <a:pPr indent="0" lvl="0" marL="0" rtl="0" algn="l">
              <a:spcBef>
                <a:spcPts val="1600"/>
              </a:spcBef>
              <a:spcAft>
                <a:spcPts val="1600"/>
              </a:spcAft>
              <a:buNone/>
            </a:pPr>
            <a:r>
              <a:rPr lang="en"/>
              <a:t>A: </a:t>
            </a:r>
            <a:r>
              <a:rPr lang="en"/>
              <a:t>Use “</a:t>
            </a:r>
            <a:r>
              <a:rPr lang="en">
                <a:solidFill>
                  <a:srgbClr val="FF9900"/>
                </a:solidFill>
              </a:rPr>
              <a:t>kernel trick</a:t>
            </a:r>
            <a:r>
              <a:rPr lang="en"/>
              <a:t>” to transform non-linearly separable data into </a:t>
            </a:r>
            <a:r>
              <a:rPr lang="en">
                <a:solidFill>
                  <a:srgbClr val="FF0000"/>
                </a:solidFill>
              </a:rPr>
              <a:t>a higher (Polynomial) or possibly infinite dimensional (RBF) space</a:t>
            </a:r>
            <a:r>
              <a:rPr lang="en"/>
              <a:t> where it can be linearly separated by a </a:t>
            </a:r>
            <a:r>
              <a:rPr lang="en"/>
              <a:t>straight</a:t>
            </a:r>
            <a:r>
              <a:rPr lang="en"/>
              <a:t> decision boundary!</a:t>
            </a:r>
            <a:endParaRPr/>
          </a:p>
        </p:txBody>
      </p:sp>
      <p:pic>
        <p:nvPicPr>
          <p:cNvPr id="131" name="Google Shape;131;p21"/>
          <p:cNvPicPr preferRelativeResize="0"/>
          <p:nvPr/>
        </p:nvPicPr>
        <p:blipFill>
          <a:blip r:embed="rId3">
            <a:alphaModFix/>
          </a:blip>
          <a:stretch>
            <a:fillRect/>
          </a:stretch>
        </p:blipFill>
        <p:spPr>
          <a:xfrm>
            <a:off x="1941088" y="2571749"/>
            <a:ext cx="5261825" cy="22155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2"/>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SVM Hyperparameter Tuning</a:t>
            </a:r>
            <a:endParaRPr/>
          </a:p>
        </p:txBody>
      </p:sp>
      <p:sp>
        <p:nvSpPr>
          <p:cNvPr id="137" name="Google Shape;137;p22"/>
          <p:cNvSpPr txBox="1"/>
          <p:nvPr>
            <p:ph idx="1" type="body"/>
          </p:nvPr>
        </p:nvSpPr>
        <p:spPr>
          <a:xfrm>
            <a:off x="311700" y="1171675"/>
            <a:ext cx="4520700" cy="339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Hyperparameters:</a:t>
            </a:r>
            <a:endParaRPr b="1"/>
          </a:p>
          <a:p>
            <a:pPr indent="-317500" lvl="0" marL="457200" rtl="0" algn="l">
              <a:spcBef>
                <a:spcPts val="1600"/>
              </a:spcBef>
              <a:spcAft>
                <a:spcPts val="0"/>
              </a:spcAft>
              <a:buSzPts val="1400"/>
              <a:buAutoNum type="arabicPeriod"/>
            </a:pPr>
            <a:r>
              <a:rPr b="1" lang="en">
                <a:solidFill>
                  <a:srgbClr val="FF0000"/>
                </a:solidFill>
              </a:rPr>
              <a:t>Kernel Degree</a:t>
            </a:r>
            <a:r>
              <a:rPr b="1" lang="en"/>
              <a:t>: </a:t>
            </a:r>
            <a:r>
              <a:rPr lang="en"/>
              <a:t>Linear/RBF</a:t>
            </a:r>
            <a:endParaRPr/>
          </a:p>
          <a:p>
            <a:pPr indent="-304800" lvl="1" marL="914400" rtl="0" algn="l">
              <a:spcBef>
                <a:spcPts val="0"/>
              </a:spcBef>
              <a:spcAft>
                <a:spcPts val="0"/>
              </a:spcAft>
              <a:buClr>
                <a:schemeClr val="accent5"/>
              </a:buClr>
              <a:buSzPts val="1200"/>
              <a:buChar char="○"/>
            </a:pPr>
            <a:r>
              <a:rPr lang="en">
                <a:solidFill>
                  <a:schemeClr val="accent5"/>
                </a:solidFill>
              </a:rPr>
              <a:t>(Introduced in the last slide)</a:t>
            </a:r>
            <a:endParaRPr>
              <a:solidFill>
                <a:schemeClr val="accent5"/>
              </a:solidFill>
            </a:endParaRPr>
          </a:p>
          <a:p>
            <a:pPr indent="-317500" lvl="0" marL="457200" rtl="0" algn="l">
              <a:spcBef>
                <a:spcPts val="0"/>
              </a:spcBef>
              <a:spcAft>
                <a:spcPts val="0"/>
              </a:spcAft>
              <a:buSzPts val="1400"/>
              <a:buAutoNum type="arabicPeriod"/>
            </a:pPr>
            <a:r>
              <a:rPr b="1" lang="en">
                <a:solidFill>
                  <a:srgbClr val="FF0000"/>
                </a:solidFill>
              </a:rPr>
              <a:t>Soft-Margin Regularization </a:t>
            </a:r>
            <a:r>
              <a:rPr b="1" lang="en">
                <a:solidFill>
                  <a:srgbClr val="FF0000"/>
                </a:solidFill>
              </a:rPr>
              <a:t>(C)</a:t>
            </a:r>
            <a:r>
              <a:rPr lang="en"/>
              <a:t>: trades off misclassification of training examples against simplicity of the decision boundary</a:t>
            </a:r>
            <a:endParaRPr/>
          </a:p>
          <a:p>
            <a:pPr indent="-292100" lvl="1" marL="914400" rtl="0" algn="l">
              <a:spcBef>
                <a:spcPts val="0"/>
              </a:spcBef>
              <a:spcAft>
                <a:spcPts val="0"/>
              </a:spcAft>
              <a:buClr>
                <a:srgbClr val="38761D"/>
              </a:buClr>
              <a:buSzPts val="1000"/>
              <a:buChar char="○"/>
            </a:pPr>
            <a:r>
              <a:rPr lang="en" sz="1000">
                <a:solidFill>
                  <a:srgbClr val="38761D"/>
                </a:solidFill>
              </a:rPr>
              <a:t>Small  C —&gt; </a:t>
            </a:r>
            <a:r>
              <a:rPr lang="en" sz="1000">
                <a:solidFill>
                  <a:srgbClr val="38761D"/>
                </a:solidFill>
              </a:rPr>
              <a:t>higher</a:t>
            </a:r>
            <a:r>
              <a:rPr lang="en" sz="1000">
                <a:solidFill>
                  <a:srgbClr val="38761D"/>
                </a:solidFill>
              </a:rPr>
              <a:t> regularization —&gt; allow some misclassification</a:t>
            </a:r>
            <a:endParaRPr sz="1000">
              <a:solidFill>
                <a:srgbClr val="38761D"/>
              </a:solidFill>
            </a:endParaRPr>
          </a:p>
          <a:p>
            <a:pPr indent="-317500" lvl="0" marL="457200" rtl="0" algn="l">
              <a:spcBef>
                <a:spcPts val="0"/>
              </a:spcBef>
              <a:spcAft>
                <a:spcPts val="0"/>
              </a:spcAft>
              <a:buSzPts val="1400"/>
              <a:buAutoNum type="arabicPeriod"/>
            </a:pPr>
            <a:r>
              <a:rPr b="1" lang="en">
                <a:solidFill>
                  <a:srgbClr val="FF0000"/>
                </a:solidFill>
              </a:rPr>
              <a:t>RBF Kernel Coefficient (gamma)</a:t>
            </a:r>
            <a:r>
              <a:rPr lang="en"/>
              <a:t>: defines how much a single training example influences</a:t>
            </a:r>
            <a:endParaRPr/>
          </a:p>
          <a:p>
            <a:pPr indent="-292100" lvl="1" marL="914400" rtl="0" algn="l">
              <a:spcBef>
                <a:spcPts val="0"/>
              </a:spcBef>
              <a:spcAft>
                <a:spcPts val="0"/>
              </a:spcAft>
              <a:buClr>
                <a:srgbClr val="04A1FF"/>
              </a:buClr>
              <a:buSzPts val="1000"/>
              <a:buChar char="○"/>
            </a:pPr>
            <a:r>
              <a:rPr lang="en" sz="1000">
                <a:solidFill>
                  <a:srgbClr val="04A1FF"/>
                </a:solidFill>
              </a:rPr>
              <a:t>Large Gamma —&gt; closer-reaching influence —&gt; more complex boundary</a:t>
            </a:r>
            <a:endParaRPr sz="1000">
              <a:solidFill>
                <a:srgbClr val="04A1FF"/>
              </a:solidFill>
            </a:endParaRPr>
          </a:p>
          <a:p>
            <a:pPr indent="0" lvl="0" marL="457200" rtl="0" algn="l">
              <a:spcBef>
                <a:spcPts val="1600"/>
              </a:spcBef>
              <a:spcAft>
                <a:spcPts val="1600"/>
              </a:spcAft>
              <a:buNone/>
            </a:pPr>
            <a:r>
              <a:t/>
            </a:r>
            <a:endParaRPr/>
          </a:p>
        </p:txBody>
      </p:sp>
      <p:pic>
        <p:nvPicPr>
          <p:cNvPr id="138" name="Google Shape;138;p22"/>
          <p:cNvPicPr preferRelativeResize="0"/>
          <p:nvPr/>
        </p:nvPicPr>
        <p:blipFill>
          <a:blip r:embed="rId3">
            <a:alphaModFix/>
          </a:blip>
          <a:stretch>
            <a:fillRect/>
          </a:stretch>
        </p:blipFill>
        <p:spPr>
          <a:xfrm>
            <a:off x="4832400" y="1447063"/>
            <a:ext cx="3999899" cy="1336532"/>
          </a:xfrm>
          <a:prstGeom prst="rect">
            <a:avLst/>
          </a:prstGeom>
          <a:noFill/>
          <a:ln>
            <a:noFill/>
          </a:ln>
        </p:spPr>
      </p:pic>
      <p:pic>
        <p:nvPicPr>
          <p:cNvPr id="139" name="Google Shape;139;p22"/>
          <p:cNvPicPr preferRelativeResize="0"/>
          <p:nvPr/>
        </p:nvPicPr>
        <p:blipFill>
          <a:blip r:embed="rId4">
            <a:alphaModFix/>
          </a:blip>
          <a:stretch>
            <a:fillRect/>
          </a:stretch>
        </p:blipFill>
        <p:spPr>
          <a:xfrm>
            <a:off x="4832400" y="2783612"/>
            <a:ext cx="3999899" cy="1579513"/>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3"/>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SVM Hyperparameter Tuning - RandomSearch</a:t>
            </a:r>
            <a:endParaRPr/>
          </a:p>
        </p:txBody>
      </p:sp>
      <p:sp>
        <p:nvSpPr>
          <p:cNvPr id="145" name="Google Shape;145;p23"/>
          <p:cNvSpPr txBox="1"/>
          <p:nvPr>
            <p:ph idx="1" type="body"/>
          </p:nvPr>
        </p:nvSpPr>
        <p:spPr>
          <a:xfrm>
            <a:off x="311700" y="1171675"/>
            <a:ext cx="3999900" cy="339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b="1"/>
          </a:p>
          <a:p>
            <a:pPr indent="0" lvl="0" marL="0" rtl="0" algn="l">
              <a:spcBef>
                <a:spcPts val="1600"/>
              </a:spcBef>
              <a:spcAft>
                <a:spcPts val="0"/>
              </a:spcAft>
              <a:buClr>
                <a:schemeClr val="dk1"/>
              </a:buClr>
              <a:buSzPts val="1100"/>
              <a:buFont typeface="Arial"/>
              <a:buNone/>
            </a:pPr>
            <a:r>
              <a:rPr b="1" lang="en"/>
              <a:t>Search &amp; Tuning Strategy:</a:t>
            </a:r>
            <a:endParaRPr b="1"/>
          </a:p>
          <a:p>
            <a:pPr indent="-317500" lvl="0" marL="457200" rtl="0" algn="l">
              <a:spcBef>
                <a:spcPts val="1600"/>
              </a:spcBef>
              <a:spcAft>
                <a:spcPts val="0"/>
              </a:spcAft>
              <a:buClr>
                <a:srgbClr val="FF0000"/>
              </a:buClr>
              <a:buSzPts val="1400"/>
              <a:buChar char="●"/>
            </a:pPr>
            <a:r>
              <a:rPr lang="en">
                <a:solidFill>
                  <a:srgbClr val="FF0000"/>
                </a:solidFill>
              </a:rPr>
              <a:t>RandomizedSearchCV()</a:t>
            </a:r>
            <a:endParaRPr>
              <a:solidFill>
                <a:srgbClr val="FF0000"/>
              </a:solidFill>
            </a:endParaRPr>
          </a:p>
          <a:p>
            <a:pPr indent="-304800" lvl="1" marL="914400" rtl="0" algn="l">
              <a:spcBef>
                <a:spcPts val="0"/>
              </a:spcBef>
              <a:spcAft>
                <a:spcPts val="0"/>
              </a:spcAft>
              <a:buSzPts val="1200"/>
              <a:buChar char="○"/>
            </a:pPr>
            <a:r>
              <a:rPr lang="en"/>
              <a:t>K-fold Cross Validation</a:t>
            </a:r>
            <a:endParaRPr/>
          </a:p>
          <a:p>
            <a:pPr indent="-304800" lvl="1" marL="914400" rtl="0" algn="l">
              <a:spcBef>
                <a:spcPts val="0"/>
              </a:spcBef>
              <a:spcAft>
                <a:spcPts val="0"/>
              </a:spcAft>
              <a:buSzPts val="1200"/>
              <a:buChar char="○"/>
            </a:pPr>
            <a:r>
              <a:rPr lang="en"/>
              <a:t>Randomized Search</a:t>
            </a:r>
            <a:endParaRPr/>
          </a:p>
          <a:p>
            <a:pPr indent="0" lvl="0" marL="0" rtl="0" algn="l">
              <a:spcBef>
                <a:spcPts val="1600"/>
              </a:spcBef>
              <a:spcAft>
                <a:spcPts val="1600"/>
              </a:spcAft>
              <a:buNone/>
            </a:pPr>
            <a:r>
              <a:t/>
            </a:r>
            <a:endParaRPr/>
          </a:p>
        </p:txBody>
      </p:sp>
      <p:pic>
        <p:nvPicPr>
          <p:cNvPr id="146" name="Google Shape;146;p23"/>
          <p:cNvPicPr preferRelativeResize="0"/>
          <p:nvPr/>
        </p:nvPicPr>
        <p:blipFill>
          <a:blip r:embed="rId3">
            <a:alphaModFix/>
          </a:blip>
          <a:stretch>
            <a:fillRect/>
          </a:stretch>
        </p:blipFill>
        <p:spPr>
          <a:xfrm>
            <a:off x="3603675" y="1380665"/>
            <a:ext cx="5311099" cy="29792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4"/>
          <p:cNvSpPr txBox="1"/>
          <p:nvPr>
            <p:ph type="title"/>
          </p:nvPr>
        </p:nvSpPr>
        <p:spPr>
          <a:xfrm>
            <a:off x="512700" y="1893300"/>
            <a:ext cx="8118600" cy="1522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BERT + NN</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5"/>
          <p:cNvSpPr txBox="1"/>
          <p:nvPr>
            <p:ph type="title"/>
          </p:nvPr>
        </p:nvSpPr>
        <p:spPr>
          <a:xfrm>
            <a:off x="94948" y="101058"/>
            <a:ext cx="3969600" cy="240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BERT </a:t>
            </a:r>
            <a:endParaRPr/>
          </a:p>
          <a:p>
            <a:pPr indent="0" lvl="0" marL="0" rtl="0" algn="l">
              <a:spcBef>
                <a:spcPts val="0"/>
              </a:spcBef>
              <a:spcAft>
                <a:spcPts val="0"/>
              </a:spcAft>
              <a:buNone/>
            </a:pPr>
            <a:r>
              <a:rPr lang="en"/>
              <a:t>(Bidirectional Encoder Representations from Transformers)</a:t>
            </a:r>
            <a:endParaRPr/>
          </a:p>
        </p:txBody>
      </p:sp>
      <p:sp>
        <p:nvSpPr>
          <p:cNvPr id="157" name="Google Shape;157;p25"/>
          <p:cNvSpPr txBox="1"/>
          <p:nvPr/>
        </p:nvSpPr>
        <p:spPr>
          <a:xfrm>
            <a:off x="0" y="2445146"/>
            <a:ext cx="9078000" cy="2665500"/>
          </a:xfrm>
          <a:prstGeom prst="rect">
            <a:avLst/>
          </a:prstGeom>
          <a:noFill/>
          <a:ln>
            <a:noFill/>
          </a:ln>
        </p:spPr>
        <p:txBody>
          <a:bodyPr anchorCtr="0" anchor="t" bIns="91425" lIns="91425" spcFirstLastPara="1" rIns="91425" wrap="square" tIns="91425">
            <a:spAutoFit/>
          </a:bodyPr>
          <a:lstStyle/>
          <a:p>
            <a:pPr indent="-317500" lvl="0" marL="457200" rtl="0" algn="l">
              <a:lnSpc>
                <a:spcPct val="115000"/>
              </a:lnSpc>
              <a:spcBef>
                <a:spcPts val="0"/>
              </a:spcBef>
              <a:spcAft>
                <a:spcPts val="0"/>
              </a:spcAft>
              <a:buClr>
                <a:schemeClr val="dk1"/>
              </a:buClr>
              <a:buSzPts val="1400"/>
              <a:buFont typeface="Old Standard TT"/>
              <a:buChar char="●"/>
            </a:pPr>
            <a:r>
              <a:rPr lang="en">
                <a:solidFill>
                  <a:schemeClr val="dk1"/>
                </a:solidFill>
                <a:latin typeface="Old Standard TT"/>
                <a:ea typeface="Old Standard TT"/>
                <a:cs typeface="Old Standard TT"/>
                <a:sym typeface="Old Standard TT"/>
              </a:rPr>
              <a:t>Converting raw </a:t>
            </a:r>
            <a:r>
              <a:rPr lang="en">
                <a:solidFill>
                  <a:srgbClr val="188038"/>
                </a:solidFill>
                <a:latin typeface="Old Standard TT"/>
                <a:ea typeface="Old Standard TT"/>
                <a:cs typeface="Old Standard TT"/>
                <a:sym typeface="Old Standard TT"/>
              </a:rPr>
              <a:t>texts</a:t>
            </a:r>
            <a:r>
              <a:rPr lang="en">
                <a:solidFill>
                  <a:schemeClr val="dk1"/>
                </a:solidFill>
                <a:latin typeface="Old Standard TT"/>
                <a:ea typeface="Old Standard TT"/>
                <a:cs typeface="Old Standard TT"/>
                <a:sym typeface="Old Standard TT"/>
              </a:rPr>
              <a:t> into numeric vectors (“</a:t>
            </a:r>
            <a:r>
              <a:rPr lang="en">
                <a:solidFill>
                  <a:srgbClr val="FF9900"/>
                </a:solidFill>
                <a:latin typeface="Old Standard TT"/>
                <a:ea typeface="Old Standard TT"/>
                <a:cs typeface="Old Standard TT"/>
                <a:sym typeface="Old Standard TT"/>
              </a:rPr>
              <a:t>embeddings</a:t>
            </a:r>
            <a:r>
              <a:rPr lang="en">
                <a:solidFill>
                  <a:schemeClr val="dk1"/>
                </a:solidFill>
                <a:latin typeface="Old Standard TT"/>
                <a:ea typeface="Old Standard TT"/>
                <a:cs typeface="Old Standard TT"/>
                <a:sym typeface="Old Standard TT"/>
              </a:rPr>
              <a:t>”) to capture </a:t>
            </a:r>
            <a:r>
              <a:rPr lang="en">
                <a:solidFill>
                  <a:srgbClr val="FF0000"/>
                </a:solidFill>
                <a:latin typeface="Old Standard TT"/>
                <a:ea typeface="Old Standard TT"/>
                <a:cs typeface="Old Standard TT"/>
                <a:sym typeface="Old Standard TT"/>
              </a:rPr>
              <a:t>semantic meaning</a:t>
            </a:r>
            <a:endParaRPr>
              <a:solidFill>
                <a:srgbClr val="FF0000"/>
              </a:solidFill>
              <a:latin typeface="Old Standard TT"/>
              <a:ea typeface="Old Standard TT"/>
              <a:cs typeface="Old Standard TT"/>
              <a:sym typeface="Old Standard TT"/>
            </a:endParaRPr>
          </a:p>
          <a:p>
            <a:pPr indent="-317500" lvl="0" marL="457200" rtl="0" algn="l">
              <a:lnSpc>
                <a:spcPct val="115000"/>
              </a:lnSpc>
              <a:spcBef>
                <a:spcPts val="1600"/>
              </a:spcBef>
              <a:spcAft>
                <a:spcPts val="0"/>
              </a:spcAft>
              <a:buClr>
                <a:schemeClr val="dk1"/>
              </a:buClr>
              <a:buSzPts val="1400"/>
              <a:buFont typeface="Old Standard TT"/>
              <a:buChar char="●"/>
            </a:pPr>
            <a:r>
              <a:rPr lang="en">
                <a:solidFill>
                  <a:schemeClr val="dk1"/>
                </a:solidFill>
                <a:latin typeface="Old Standard TT"/>
                <a:ea typeface="Old Standard TT"/>
                <a:cs typeface="Old Standard TT"/>
                <a:sym typeface="Old Standard TT"/>
              </a:rPr>
              <a:t>Embedding process:</a:t>
            </a:r>
            <a:endParaRPr>
              <a:solidFill>
                <a:schemeClr val="dk1"/>
              </a:solidFill>
              <a:latin typeface="Old Standard TT"/>
              <a:ea typeface="Old Standard TT"/>
              <a:cs typeface="Old Standard TT"/>
              <a:sym typeface="Old Standard TT"/>
            </a:endParaRPr>
          </a:p>
          <a:p>
            <a:pPr indent="-317500" lvl="1" marL="914400" rtl="0" algn="l">
              <a:lnSpc>
                <a:spcPct val="115000"/>
              </a:lnSpc>
              <a:spcBef>
                <a:spcPts val="1600"/>
              </a:spcBef>
              <a:spcAft>
                <a:spcPts val="0"/>
              </a:spcAft>
              <a:buClr>
                <a:schemeClr val="dk1"/>
              </a:buClr>
              <a:buSzPts val="1400"/>
              <a:buFont typeface="Old Standard TT"/>
              <a:buChar char="○"/>
            </a:pPr>
            <a:r>
              <a:rPr lang="en">
                <a:solidFill>
                  <a:srgbClr val="FF0000"/>
                </a:solidFill>
                <a:latin typeface="Old Standard TT"/>
                <a:ea typeface="Old Standard TT"/>
                <a:cs typeface="Old Standard TT"/>
                <a:sym typeface="Old Standard TT"/>
              </a:rPr>
              <a:t>Tokenize </a:t>
            </a:r>
            <a:r>
              <a:rPr lang="en">
                <a:solidFill>
                  <a:schemeClr val="dk1"/>
                </a:solidFill>
                <a:latin typeface="Old Standard TT"/>
                <a:ea typeface="Old Standard TT"/>
                <a:cs typeface="Old Standard TT"/>
                <a:sym typeface="Old Standard TT"/>
              </a:rPr>
              <a:t>ticket texts into batches (size 32, max length 128)</a:t>
            </a:r>
            <a:endParaRPr>
              <a:solidFill>
                <a:schemeClr val="dk1"/>
              </a:solidFill>
              <a:latin typeface="Old Standard TT"/>
              <a:ea typeface="Old Standard TT"/>
              <a:cs typeface="Old Standard TT"/>
              <a:sym typeface="Old Standard TT"/>
            </a:endParaRPr>
          </a:p>
          <a:p>
            <a:pPr indent="-317500" lvl="1" marL="914400" rtl="0" algn="l">
              <a:lnSpc>
                <a:spcPct val="115000"/>
              </a:lnSpc>
              <a:spcBef>
                <a:spcPts val="1600"/>
              </a:spcBef>
              <a:spcAft>
                <a:spcPts val="0"/>
              </a:spcAft>
              <a:buClr>
                <a:schemeClr val="dk1"/>
              </a:buClr>
              <a:buSzPts val="1400"/>
              <a:buFont typeface="Old Standard TT"/>
              <a:buChar char="○"/>
            </a:pPr>
            <a:r>
              <a:rPr lang="en">
                <a:solidFill>
                  <a:schemeClr val="dk1"/>
                </a:solidFill>
                <a:latin typeface="Old Standard TT"/>
                <a:ea typeface="Old Standard TT"/>
                <a:cs typeface="Old Standard TT"/>
                <a:sym typeface="Old Standard TT"/>
              </a:rPr>
              <a:t>Get </a:t>
            </a:r>
            <a:r>
              <a:rPr lang="en">
                <a:solidFill>
                  <a:srgbClr val="FF0000"/>
                </a:solidFill>
                <a:latin typeface="Old Standard TT"/>
                <a:ea typeface="Old Standard TT"/>
                <a:cs typeface="Old Standard TT"/>
                <a:sym typeface="Old Standard TT"/>
              </a:rPr>
              <a:t>token-level hidden states</a:t>
            </a:r>
            <a:r>
              <a:rPr lang="en">
                <a:solidFill>
                  <a:schemeClr val="dk1"/>
                </a:solidFill>
                <a:latin typeface="Old Standard TT"/>
                <a:ea typeface="Old Standard TT"/>
                <a:cs typeface="Old Standard TT"/>
                <a:sym typeface="Old Standard TT"/>
              </a:rPr>
              <a:t> from BERT after learning each token context</a:t>
            </a:r>
            <a:endParaRPr>
              <a:solidFill>
                <a:schemeClr val="dk1"/>
              </a:solidFill>
              <a:latin typeface="Old Standard TT"/>
              <a:ea typeface="Old Standard TT"/>
              <a:cs typeface="Old Standard TT"/>
              <a:sym typeface="Old Standard TT"/>
            </a:endParaRPr>
          </a:p>
          <a:p>
            <a:pPr indent="-317500" lvl="1" marL="914400" rtl="0" algn="l">
              <a:lnSpc>
                <a:spcPct val="115000"/>
              </a:lnSpc>
              <a:spcBef>
                <a:spcPts val="1600"/>
              </a:spcBef>
              <a:spcAft>
                <a:spcPts val="0"/>
              </a:spcAft>
              <a:buClr>
                <a:schemeClr val="dk1"/>
              </a:buClr>
              <a:buSzPts val="1400"/>
              <a:buFont typeface="Old Standard TT"/>
              <a:buChar char="○"/>
            </a:pPr>
            <a:r>
              <a:rPr lang="en">
                <a:solidFill>
                  <a:schemeClr val="dk1"/>
                </a:solidFill>
                <a:latin typeface="Old Standard TT"/>
                <a:ea typeface="Old Standard TT"/>
                <a:cs typeface="Old Standard TT"/>
                <a:sym typeface="Old Standard TT"/>
              </a:rPr>
              <a:t>Collapse to one vector using </a:t>
            </a:r>
            <a:r>
              <a:rPr lang="en">
                <a:solidFill>
                  <a:srgbClr val="FF0000"/>
                </a:solidFill>
                <a:latin typeface="Old Standard TT"/>
                <a:ea typeface="Old Standard TT"/>
                <a:cs typeface="Old Standard TT"/>
                <a:sym typeface="Old Standard TT"/>
              </a:rPr>
              <a:t>mean </a:t>
            </a:r>
            <a:r>
              <a:rPr lang="en">
                <a:solidFill>
                  <a:schemeClr val="dk1"/>
                </a:solidFill>
                <a:latin typeface="Old Standard TT"/>
                <a:ea typeface="Old Standard TT"/>
                <a:cs typeface="Old Standard TT"/>
                <a:sym typeface="Old Standard TT"/>
              </a:rPr>
              <a:t>for all tokens, avoid padded empty words</a:t>
            </a:r>
            <a:endParaRPr>
              <a:solidFill>
                <a:schemeClr val="dk1"/>
              </a:solidFill>
              <a:latin typeface="Old Standard TT"/>
              <a:ea typeface="Old Standard TT"/>
              <a:cs typeface="Old Standard TT"/>
              <a:sym typeface="Old Standard TT"/>
            </a:endParaRPr>
          </a:p>
          <a:p>
            <a:pPr indent="-317500" lvl="1" marL="914400" rtl="0" algn="l">
              <a:lnSpc>
                <a:spcPct val="115000"/>
              </a:lnSpc>
              <a:spcBef>
                <a:spcPts val="1600"/>
              </a:spcBef>
              <a:spcAft>
                <a:spcPts val="1600"/>
              </a:spcAft>
              <a:buClr>
                <a:schemeClr val="dk1"/>
              </a:buClr>
              <a:buSzPts val="1400"/>
              <a:buFont typeface="Old Standard TT"/>
              <a:buChar char="○"/>
            </a:pPr>
            <a:r>
              <a:rPr lang="en">
                <a:solidFill>
                  <a:schemeClr val="dk1"/>
                </a:solidFill>
                <a:latin typeface="Old Standard TT"/>
                <a:ea typeface="Old Standard TT"/>
                <a:cs typeface="Old Standard TT"/>
                <a:sym typeface="Old Standard TT"/>
              </a:rPr>
              <a:t>Output </a:t>
            </a:r>
            <a:r>
              <a:rPr lang="en">
                <a:solidFill>
                  <a:srgbClr val="FF0000"/>
                </a:solidFill>
                <a:latin typeface="Old Standard TT"/>
                <a:ea typeface="Old Standard TT"/>
                <a:cs typeface="Old Standard TT"/>
                <a:sym typeface="Old Standard TT"/>
              </a:rPr>
              <a:t>feature vectors</a:t>
            </a:r>
            <a:r>
              <a:rPr lang="en">
                <a:solidFill>
                  <a:schemeClr val="dk1"/>
                </a:solidFill>
                <a:latin typeface="Old Standard TT"/>
                <a:ea typeface="Old Standard TT"/>
                <a:cs typeface="Old Standard TT"/>
                <a:sym typeface="Old Standard TT"/>
              </a:rPr>
              <a:t> as input for NN model training instead of the original ticket texts</a:t>
            </a:r>
            <a:endParaRPr>
              <a:solidFill>
                <a:schemeClr val="dk1"/>
              </a:solidFill>
            </a:endParaRPr>
          </a:p>
        </p:txBody>
      </p:sp>
      <p:pic>
        <p:nvPicPr>
          <p:cNvPr id="158" name="Google Shape;158;p25"/>
          <p:cNvPicPr preferRelativeResize="0"/>
          <p:nvPr/>
        </p:nvPicPr>
        <p:blipFill>
          <a:blip r:embed="rId3">
            <a:alphaModFix/>
          </a:blip>
          <a:stretch>
            <a:fillRect/>
          </a:stretch>
        </p:blipFill>
        <p:spPr>
          <a:xfrm>
            <a:off x="3985475" y="159138"/>
            <a:ext cx="5092524" cy="22886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6"/>
          <p:cNvSpPr txBox="1"/>
          <p:nvPr>
            <p:ph idx="2" type="body"/>
          </p:nvPr>
        </p:nvSpPr>
        <p:spPr>
          <a:xfrm>
            <a:off x="4839300" y="1083850"/>
            <a:ext cx="3999900" cy="36825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
                <a:solidFill>
                  <a:srgbClr val="188038"/>
                </a:solidFill>
              </a:rPr>
              <a:t>feedforward</a:t>
            </a:r>
            <a:r>
              <a:rPr lang="en"/>
              <a:t>, each neuron applying weights + bias + nonlinear activation (ReLU/tanh), trained via </a:t>
            </a:r>
            <a:r>
              <a:rPr lang="en">
                <a:solidFill>
                  <a:srgbClr val="FF9900"/>
                </a:solidFill>
              </a:rPr>
              <a:t>backpropagation</a:t>
            </a:r>
            <a:endParaRPr>
              <a:solidFill>
                <a:srgbClr val="FF9900"/>
              </a:solidFill>
            </a:endParaRPr>
          </a:p>
          <a:p>
            <a:pPr indent="-317500" lvl="0" marL="457200" rtl="0" algn="l">
              <a:spcBef>
                <a:spcPts val="1600"/>
              </a:spcBef>
              <a:spcAft>
                <a:spcPts val="0"/>
              </a:spcAft>
              <a:buSzPts val="1400"/>
              <a:buChar char="●"/>
            </a:pPr>
            <a:r>
              <a:rPr lang="en">
                <a:solidFill>
                  <a:srgbClr val="FF0000"/>
                </a:solidFill>
              </a:rPr>
              <a:t>Input:</a:t>
            </a:r>
            <a:r>
              <a:rPr lang="en"/>
              <a:t> BERT ticket embeddings</a:t>
            </a:r>
            <a:endParaRPr/>
          </a:p>
          <a:p>
            <a:pPr indent="-317500" lvl="0" marL="457200" rtl="0" algn="l">
              <a:spcBef>
                <a:spcPts val="1600"/>
              </a:spcBef>
              <a:spcAft>
                <a:spcPts val="0"/>
              </a:spcAft>
              <a:buSzPts val="1400"/>
              <a:buChar char="●"/>
            </a:pPr>
            <a:r>
              <a:rPr lang="en">
                <a:solidFill>
                  <a:srgbClr val="FF0000"/>
                </a:solidFill>
              </a:rPr>
              <a:t>Tuned hyperparameters (by GA):</a:t>
            </a:r>
            <a:r>
              <a:rPr lang="en" u="sng"/>
              <a:t> </a:t>
            </a:r>
            <a:r>
              <a:rPr lang="en"/>
              <a:t>hidden_layer_sizes, activation, alpha (L2 regularization), learning_rate_init</a:t>
            </a:r>
            <a:endParaRPr/>
          </a:p>
          <a:p>
            <a:pPr indent="-317500" lvl="0" marL="457200" rtl="0" algn="l">
              <a:spcBef>
                <a:spcPts val="1600"/>
              </a:spcBef>
              <a:spcAft>
                <a:spcPts val="0"/>
              </a:spcAft>
              <a:buSzPts val="1400"/>
              <a:buChar char="●"/>
            </a:pPr>
            <a:r>
              <a:rPr lang="en">
                <a:solidFill>
                  <a:srgbClr val="FF0000"/>
                </a:solidFill>
              </a:rPr>
              <a:t>Output:</a:t>
            </a:r>
            <a:r>
              <a:rPr lang="en"/>
              <a:t> ticket type/priority/queue</a:t>
            </a:r>
            <a:endParaRPr/>
          </a:p>
          <a:p>
            <a:pPr indent="-317500" lvl="0" marL="457200" rtl="0" algn="l">
              <a:spcBef>
                <a:spcPts val="1600"/>
              </a:spcBef>
              <a:spcAft>
                <a:spcPts val="1600"/>
              </a:spcAft>
              <a:buSzPts val="1400"/>
              <a:buChar char="●"/>
            </a:pPr>
            <a:r>
              <a:rPr lang="en"/>
              <a:t>Select model with the </a:t>
            </a:r>
            <a:r>
              <a:rPr lang="en">
                <a:solidFill>
                  <a:srgbClr val="FF0000"/>
                </a:solidFill>
              </a:rPr>
              <a:t>lowest CV error</a:t>
            </a:r>
            <a:r>
              <a:rPr lang="en"/>
              <a:t> based on 3-Fold </a:t>
            </a:r>
            <a:r>
              <a:rPr lang="en">
                <a:solidFill>
                  <a:srgbClr val="FF9900"/>
                </a:solidFill>
              </a:rPr>
              <a:t>StratifiedKFold CV</a:t>
            </a:r>
            <a:endParaRPr>
              <a:solidFill>
                <a:srgbClr val="FF9900"/>
              </a:solidFill>
            </a:endParaRPr>
          </a:p>
        </p:txBody>
      </p:sp>
      <p:sp>
        <p:nvSpPr>
          <p:cNvPr id="164" name="Google Shape;164;p26"/>
          <p:cNvSpPr txBox="1"/>
          <p:nvPr>
            <p:ph type="title"/>
          </p:nvPr>
        </p:nvSpPr>
        <p:spPr>
          <a:xfrm>
            <a:off x="311700" y="392271"/>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Multi-Layer Perceptron (Neural Network)</a:t>
            </a:r>
            <a:endParaRPr/>
          </a:p>
        </p:txBody>
      </p:sp>
      <p:pic>
        <p:nvPicPr>
          <p:cNvPr id="165" name="Google Shape;165;p26"/>
          <p:cNvPicPr preferRelativeResize="0"/>
          <p:nvPr/>
        </p:nvPicPr>
        <p:blipFill>
          <a:blip r:embed="rId3">
            <a:alphaModFix/>
          </a:blip>
          <a:stretch>
            <a:fillRect/>
          </a:stretch>
        </p:blipFill>
        <p:spPr>
          <a:xfrm>
            <a:off x="311700" y="1083852"/>
            <a:ext cx="4527600" cy="3572712"/>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27"/>
          <p:cNvSpPr txBox="1"/>
          <p:nvPr>
            <p:ph type="title"/>
          </p:nvPr>
        </p:nvSpPr>
        <p:spPr>
          <a:xfrm>
            <a:off x="415348" y="285250"/>
            <a:ext cx="8313300" cy="984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NN Hyperparameter Tuning - Genetic Algorithm</a:t>
            </a:r>
            <a:endParaRPr/>
          </a:p>
        </p:txBody>
      </p:sp>
      <p:sp>
        <p:nvSpPr>
          <p:cNvPr id="171" name="Google Shape;171;p27"/>
          <p:cNvSpPr txBox="1"/>
          <p:nvPr/>
        </p:nvSpPr>
        <p:spPr>
          <a:xfrm>
            <a:off x="484788" y="1317671"/>
            <a:ext cx="3888600" cy="2998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a:solidFill>
                  <a:schemeClr val="dk1"/>
                </a:solidFill>
                <a:latin typeface="Old Standard TT"/>
                <a:ea typeface="Old Standard TT"/>
                <a:cs typeface="Old Standard TT"/>
                <a:sym typeface="Old Standard TT"/>
              </a:rPr>
              <a:t>Search &amp; Tuning Strategy: </a:t>
            </a:r>
            <a:endParaRPr b="1">
              <a:solidFill>
                <a:srgbClr val="FF0000"/>
              </a:solidFill>
              <a:latin typeface="Old Standard TT"/>
              <a:ea typeface="Old Standard TT"/>
              <a:cs typeface="Old Standard TT"/>
              <a:sym typeface="Old Standard TT"/>
            </a:endParaRPr>
          </a:p>
          <a:p>
            <a:pPr indent="-317500" lvl="0" marL="457200" rtl="0" algn="l">
              <a:lnSpc>
                <a:spcPct val="115000"/>
              </a:lnSpc>
              <a:spcBef>
                <a:spcPts val="1600"/>
              </a:spcBef>
              <a:spcAft>
                <a:spcPts val="0"/>
              </a:spcAft>
              <a:buClr>
                <a:schemeClr val="dk1"/>
              </a:buClr>
              <a:buSzPts val="1400"/>
              <a:buFont typeface="Old Standard TT"/>
              <a:buChar char="●"/>
            </a:pPr>
            <a:r>
              <a:rPr lang="en">
                <a:solidFill>
                  <a:srgbClr val="FF0000"/>
                </a:solidFill>
                <a:latin typeface="Old Standard TT"/>
                <a:ea typeface="Old Standard TT"/>
                <a:cs typeface="Old Standard TT"/>
                <a:sym typeface="Old Standard TT"/>
              </a:rPr>
              <a:t>Hyperparameter search</a:t>
            </a:r>
            <a:r>
              <a:rPr lang="en">
                <a:solidFill>
                  <a:schemeClr val="dk1"/>
                </a:solidFill>
                <a:latin typeface="Old Standard TT"/>
                <a:ea typeface="Old Standard TT"/>
                <a:cs typeface="Old Standard TT"/>
                <a:sym typeface="Old Standard TT"/>
              </a:rPr>
              <a:t> for predicting ticket type, priority, and queue</a:t>
            </a:r>
            <a:endParaRPr>
              <a:solidFill>
                <a:schemeClr val="dk1"/>
              </a:solidFill>
              <a:latin typeface="Old Standard TT"/>
              <a:ea typeface="Old Standard TT"/>
              <a:cs typeface="Old Standard TT"/>
              <a:sym typeface="Old Standard TT"/>
            </a:endParaRPr>
          </a:p>
          <a:p>
            <a:pPr indent="-317500" lvl="0" marL="457200" rtl="0" algn="l">
              <a:lnSpc>
                <a:spcPct val="115000"/>
              </a:lnSpc>
              <a:spcBef>
                <a:spcPts val="1600"/>
              </a:spcBef>
              <a:spcAft>
                <a:spcPts val="0"/>
              </a:spcAft>
              <a:buClr>
                <a:schemeClr val="dk1"/>
              </a:buClr>
              <a:buSzPts val="1400"/>
              <a:buFont typeface="Old Standard TT"/>
              <a:buChar char="●"/>
            </a:pPr>
            <a:r>
              <a:rPr lang="en">
                <a:solidFill>
                  <a:srgbClr val="FF0000"/>
                </a:solidFill>
                <a:latin typeface="Old Standard TT"/>
                <a:ea typeface="Old Standard TT"/>
                <a:cs typeface="Old Standard TT"/>
                <a:sym typeface="Old Standard TT"/>
              </a:rPr>
              <a:t>Individual genome:</a:t>
            </a:r>
            <a:r>
              <a:rPr lang="en">
                <a:solidFill>
                  <a:schemeClr val="dk1"/>
                </a:solidFill>
                <a:latin typeface="Old Standard TT"/>
                <a:ea typeface="Old Standard TT"/>
                <a:cs typeface="Old Standard TT"/>
                <a:sym typeface="Old Standard TT"/>
              </a:rPr>
              <a:t> hidden_layer_sizes, activation, alpha (L2 regularization), learning_rate_init</a:t>
            </a:r>
            <a:endParaRPr>
              <a:solidFill>
                <a:schemeClr val="dk1"/>
              </a:solidFill>
              <a:latin typeface="Old Standard TT"/>
              <a:ea typeface="Old Standard TT"/>
              <a:cs typeface="Old Standard TT"/>
              <a:sym typeface="Old Standard TT"/>
            </a:endParaRPr>
          </a:p>
          <a:p>
            <a:pPr indent="-317500" lvl="0" marL="457200" rtl="0" algn="l">
              <a:lnSpc>
                <a:spcPct val="115000"/>
              </a:lnSpc>
              <a:spcBef>
                <a:spcPts val="1600"/>
              </a:spcBef>
              <a:spcAft>
                <a:spcPts val="1600"/>
              </a:spcAft>
              <a:buClr>
                <a:schemeClr val="dk1"/>
              </a:buClr>
              <a:buSzPts val="1400"/>
              <a:buFont typeface="Old Standard TT"/>
              <a:buChar char="●"/>
            </a:pPr>
            <a:r>
              <a:rPr lang="en">
                <a:solidFill>
                  <a:srgbClr val="FF0000"/>
                </a:solidFill>
                <a:latin typeface="Old Standard TT"/>
                <a:ea typeface="Old Standard TT"/>
                <a:cs typeface="Old Standard TT"/>
                <a:sym typeface="Old Standard TT"/>
              </a:rPr>
              <a:t>Fitness function:</a:t>
            </a:r>
            <a:r>
              <a:rPr lang="en">
                <a:solidFill>
                  <a:schemeClr val="dk1"/>
                </a:solidFill>
                <a:latin typeface="Old Standard TT"/>
                <a:ea typeface="Old Standard TT"/>
                <a:cs typeface="Old Standard TT"/>
                <a:sym typeface="Old Standard TT"/>
              </a:rPr>
              <a:t> mean cross-validation error of a </a:t>
            </a:r>
            <a:r>
              <a:rPr lang="en">
                <a:solidFill>
                  <a:schemeClr val="dk1"/>
                </a:solidFill>
                <a:latin typeface="Old Standard TT"/>
                <a:ea typeface="Old Standard TT"/>
                <a:cs typeface="Old Standard TT"/>
                <a:sym typeface="Old Standard TT"/>
              </a:rPr>
              <a:t>specific</a:t>
            </a:r>
            <a:r>
              <a:rPr lang="en">
                <a:solidFill>
                  <a:schemeClr val="dk1"/>
                </a:solidFill>
                <a:latin typeface="Old Standard TT"/>
                <a:ea typeface="Old Standard TT"/>
                <a:cs typeface="Old Standard TT"/>
                <a:sym typeface="Old Standard TT"/>
              </a:rPr>
              <a:t> NN model configuration using </a:t>
            </a:r>
            <a:r>
              <a:rPr lang="en">
                <a:solidFill>
                  <a:schemeClr val="dk1"/>
                </a:solidFill>
                <a:latin typeface="Old Standard TT"/>
                <a:ea typeface="Old Standard TT"/>
                <a:cs typeface="Old Standard TT"/>
                <a:sym typeface="Old Standard TT"/>
              </a:rPr>
              <a:t>3-fold StratifiedKFold CV</a:t>
            </a:r>
            <a:endParaRPr>
              <a:solidFill>
                <a:schemeClr val="dk1"/>
              </a:solidFill>
              <a:latin typeface="Old Standard TT"/>
              <a:ea typeface="Old Standard TT"/>
              <a:cs typeface="Old Standard TT"/>
              <a:sym typeface="Old Standard TT"/>
            </a:endParaRPr>
          </a:p>
        </p:txBody>
      </p:sp>
      <p:sp>
        <p:nvSpPr>
          <p:cNvPr id="172" name="Google Shape;172;p27"/>
          <p:cNvSpPr txBox="1"/>
          <p:nvPr>
            <p:ph idx="1" type="body"/>
          </p:nvPr>
        </p:nvSpPr>
        <p:spPr>
          <a:xfrm>
            <a:off x="4794425" y="1317675"/>
            <a:ext cx="4115400" cy="3695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Evolution</a:t>
            </a:r>
            <a:r>
              <a:rPr lang="en" sz="1400"/>
              <a:t> (population = 8, generations = 5)</a:t>
            </a:r>
            <a:endParaRPr sz="1400"/>
          </a:p>
          <a:p>
            <a:pPr indent="-304800" lvl="1" marL="914400" rtl="0" algn="l">
              <a:spcBef>
                <a:spcPts val="1600"/>
              </a:spcBef>
              <a:spcAft>
                <a:spcPts val="0"/>
              </a:spcAft>
              <a:buSzPts val="1200"/>
              <a:buAutoNum type="arabicPeriod"/>
            </a:pPr>
            <a:r>
              <a:rPr lang="en"/>
              <a:t>Seed random population</a:t>
            </a:r>
            <a:endParaRPr/>
          </a:p>
          <a:p>
            <a:pPr indent="-304800" lvl="1" marL="914400" rtl="0" algn="l">
              <a:spcBef>
                <a:spcPts val="1600"/>
              </a:spcBef>
              <a:spcAft>
                <a:spcPts val="0"/>
              </a:spcAft>
              <a:buSzPts val="1200"/>
              <a:buAutoNum type="arabicPeriod"/>
            </a:pPr>
            <a:r>
              <a:rPr lang="en"/>
              <a:t>Evaluate fitness of every individual</a:t>
            </a:r>
            <a:endParaRPr/>
          </a:p>
          <a:p>
            <a:pPr indent="-304800" lvl="1" marL="914400" rtl="0" algn="l">
              <a:spcBef>
                <a:spcPts val="1600"/>
              </a:spcBef>
              <a:spcAft>
                <a:spcPts val="0"/>
              </a:spcAft>
              <a:buSzPts val="1200"/>
              <a:buAutoNum type="arabicPeriod"/>
            </a:pPr>
            <a:r>
              <a:rPr lang="en"/>
              <a:t>Elitism</a:t>
            </a:r>
            <a:endParaRPr/>
          </a:p>
          <a:p>
            <a:pPr indent="-304800" lvl="1" marL="914400" rtl="0" algn="l">
              <a:spcBef>
                <a:spcPts val="1600"/>
              </a:spcBef>
              <a:spcAft>
                <a:spcPts val="0"/>
              </a:spcAft>
              <a:buSzPts val="1200"/>
              <a:buAutoNum type="arabicPeriod"/>
            </a:pPr>
            <a:r>
              <a:rPr lang="en"/>
              <a:t>Tournament selection (k=3) for parents</a:t>
            </a:r>
            <a:endParaRPr/>
          </a:p>
          <a:p>
            <a:pPr indent="-304800" lvl="1" marL="914400" rtl="0" algn="l">
              <a:spcBef>
                <a:spcPts val="1600"/>
              </a:spcBef>
              <a:spcAft>
                <a:spcPts val="0"/>
              </a:spcAft>
              <a:buSzPts val="1200"/>
              <a:buAutoNum type="arabicPeriod"/>
            </a:pPr>
            <a:r>
              <a:rPr lang="en"/>
              <a:t>Uniform crossover (coin flip) + mutation (p=0.3)</a:t>
            </a:r>
            <a:endParaRPr/>
          </a:p>
          <a:p>
            <a:pPr indent="-304800" lvl="1" marL="914400" rtl="0" algn="l">
              <a:spcBef>
                <a:spcPts val="1600"/>
              </a:spcBef>
              <a:spcAft>
                <a:spcPts val="1600"/>
              </a:spcAft>
              <a:buSzPts val="1200"/>
              <a:buAutoNum type="arabicPeriod"/>
            </a:pPr>
            <a:r>
              <a:rPr lang="en"/>
              <a:t>Repeat for all generations and select the best genome</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28"/>
          <p:cNvSpPr txBox="1"/>
          <p:nvPr>
            <p:ph type="title"/>
          </p:nvPr>
        </p:nvSpPr>
        <p:spPr>
          <a:xfrm>
            <a:off x="512700" y="1893300"/>
            <a:ext cx="8118600" cy="1522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TF-IDF + K-</a:t>
            </a:r>
            <a:r>
              <a:rPr lang="en"/>
              <a:t>NN</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29"/>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k-Nearest Neighbors (Weighted kNN)</a:t>
            </a:r>
            <a:endParaRPr/>
          </a:p>
        </p:txBody>
      </p:sp>
      <p:sp>
        <p:nvSpPr>
          <p:cNvPr id="183" name="Google Shape;183;p29"/>
          <p:cNvSpPr txBox="1"/>
          <p:nvPr/>
        </p:nvSpPr>
        <p:spPr>
          <a:xfrm>
            <a:off x="4164350" y="1274450"/>
            <a:ext cx="4979700" cy="3203700"/>
          </a:xfrm>
          <a:prstGeom prst="rect">
            <a:avLst/>
          </a:prstGeom>
          <a:noFill/>
          <a:ln>
            <a:noFill/>
          </a:ln>
        </p:spPr>
        <p:txBody>
          <a:bodyPr anchorCtr="0" anchor="t" bIns="91425" lIns="91425" spcFirstLastPara="1" rIns="91425" wrap="square" tIns="91425">
            <a:spAutoFit/>
          </a:bodyPr>
          <a:lstStyle/>
          <a:p>
            <a:pPr indent="-317500" lvl="0" marL="457200" marR="0" rtl="0" algn="l">
              <a:lnSpc>
                <a:spcPct val="115000"/>
              </a:lnSpc>
              <a:spcBef>
                <a:spcPts val="0"/>
              </a:spcBef>
              <a:spcAft>
                <a:spcPts val="0"/>
              </a:spcAft>
              <a:buClr>
                <a:schemeClr val="dk1"/>
              </a:buClr>
              <a:buSzPts val="1400"/>
              <a:buFont typeface="Old Standard TT"/>
              <a:buChar char="●"/>
            </a:pPr>
            <a:r>
              <a:rPr lang="en">
                <a:solidFill>
                  <a:schemeClr val="dk1"/>
                </a:solidFill>
                <a:latin typeface="Old Standard TT"/>
                <a:ea typeface="Old Standard TT"/>
                <a:cs typeface="Old Standard TT"/>
                <a:sym typeface="Old Standard TT"/>
              </a:rPr>
              <a:t>Idea: </a:t>
            </a:r>
            <a:r>
              <a:rPr lang="en">
                <a:solidFill>
                  <a:schemeClr val="dk1"/>
                </a:solidFill>
                <a:latin typeface="Old Standard TT"/>
                <a:ea typeface="Old Standard TT"/>
                <a:cs typeface="Old Standard TT"/>
                <a:sym typeface="Old Standard TT"/>
              </a:rPr>
              <a:t>Makes predictions based on the most similar training examples.</a:t>
            </a:r>
            <a:endParaRPr>
              <a:solidFill>
                <a:schemeClr val="dk1"/>
              </a:solidFill>
              <a:latin typeface="Old Standard TT"/>
              <a:ea typeface="Old Standard TT"/>
              <a:cs typeface="Old Standard TT"/>
              <a:sym typeface="Old Standard TT"/>
            </a:endParaRPr>
          </a:p>
          <a:p>
            <a:pPr indent="-317500" lvl="0" marL="457200" marR="0" rtl="0" algn="l">
              <a:lnSpc>
                <a:spcPct val="115000"/>
              </a:lnSpc>
              <a:spcBef>
                <a:spcPts val="1600"/>
              </a:spcBef>
              <a:spcAft>
                <a:spcPts val="0"/>
              </a:spcAft>
              <a:buClr>
                <a:schemeClr val="dk1"/>
              </a:buClr>
              <a:buSzPts val="1400"/>
              <a:buFont typeface="Old Standard TT"/>
              <a:buChar char="●"/>
            </a:pPr>
            <a:r>
              <a:rPr lang="en">
                <a:solidFill>
                  <a:schemeClr val="dk1"/>
                </a:solidFill>
                <a:latin typeface="Old Standard TT"/>
                <a:ea typeface="Old Standard TT"/>
                <a:cs typeface="Old Standard TT"/>
                <a:sym typeface="Old Standard TT"/>
              </a:rPr>
              <a:t>Prediction: For a new sample, the model finds the k nearest neighbors in the training set.</a:t>
            </a:r>
            <a:endParaRPr>
              <a:solidFill>
                <a:schemeClr val="dk1"/>
              </a:solidFill>
              <a:latin typeface="Old Standard TT"/>
              <a:ea typeface="Old Standard TT"/>
              <a:cs typeface="Old Standard TT"/>
              <a:sym typeface="Old Standard TT"/>
            </a:endParaRPr>
          </a:p>
          <a:p>
            <a:pPr indent="-317500" lvl="0" marL="457200" rtl="0" algn="l">
              <a:lnSpc>
                <a:spcPct val="115000"/>
              </a:lnSpc>
              <a:spcBef>
                <a:spcPts val="1600"/>
              </a:spcBef>
              <a:spcAft>
                <a:spcPts val="0"/>
              </a:spcAft>
              <a:buClr>
                <a:schemeClr val="dk1"/>
              </a:buClr>
              <a:buSzPts val="1400"/>
              <a:buFont typeface="Old Standard TT"/>
              <a:buChar char="●"/>
            </a:pPr>
            <a:r>
              <a:rPr lang="en">
                <a:solidFill>
                  <a:srgbClr val="FF0000"/>
                </a:solidFill>
                <a:latin typeface="Old Standard TT"/>
                <a:ea typeface="Old Standard TT"/>
                <a:cs typeface="Old Standard TT"/>
                <a:sym typeface="Old Standard TT"/>
              </a:rPr>
              <a:t>Hyperparameter</a:t>
            </a:r>
            <a:r>
              <a:rPr lang="en">
                <a:solidFill>
                  <a:schemeClr val="dk1"/>
                </a:solidFill>
                <a:latin typeface="Old Standard TT"/>
                <a:ea typeface="Old Standard TT"/>
                <a:cs typeface="Old Standard TT"/>
                <a:sym typeface="Old Standard TT"/>
              </a:rPr>
              <a:t>: k (number of the most similar neighbors)</a:t>
            </a:r>
            <a:endParaRPr>
              <a:solidFill>
                <a:schemeClr val="dk1"/>
              </a:solidFill>
              <a:latin typeface="Old Standard TT"/>
              <a:ea typeface="Old Standard TT"/>
              <a:cs typeface="Old Standard TT"/>
              <a:sym typeface="Old Standard TT"/>
            </a:endParaRPr>
          </a:p>
          <a:p>
            <a:pPr indent="-317500" lvl="0" marL="457200" marR="0" rtl="0" algn="l">
              <a:lnSpc>
                <a:spcPct val="115000"/>
              </a:lnSpc>
              <a:spcBef>
                <a:spcPts val="1600"/>
              </a:spcBef>
              <a:spcAft>
                <a:spcPts val="0"/>
              </a:spcAft>
              <a:buClr>
                <a:schemeClr val="dk1"/>
              </a:buClr>
              <a:buSzPts val="1400"/>
              <a:buFont typeface="Old Standard TT"/>
              <a:buChar char="●"/>
            </a:pPr>
            <a:r>
              <a:rPr lang="en">
                <a:solidFill>
                  <a:schemeClr val="dk1"/>
                </a:solidFill>
                <a:latin typeface="Old Standard TT"/>
                <a:ea typeface="Old Standard TT"/>
                <a:cs typeface="Old Standard TT"/>
                <a:sym typeface="Old Standard TT"/>
              </a:rPr>
              <a:t>The final label is decided by </a:t>
            </a:r>
            <a:r>
              <a:rPr lang="en">
                <a:solidFill>
                  <a:srgbClr val="FF0000"/>
                </a:solidFill>
                <a:latin typeface="Old Standard TT"/>
                <a:ea typeface="Old Standard TT"/>
                <a:cs typeface="Old Standard TT"/>
                <a:sym typeface="Old Standard TT"/>
              </a:rPr>
              <a:t>distance-weighted vote</a:t>
            </a:r>
            <a:r>
              <a:rPr lang="en">
                <a:solidFill>
                  <a:schemeClr val="dk1"/>
                </a:solidFill>
                <a:latin typeface="Old Standard TT"/>
                <a:ea typeface="Old Standard TT"/>
                <a:cs typeface="Old Standard TT"/>
                <a:sym typeface="Old Standard TT"/>
              </a:rPr>
              <a:t>.</a:t>
            </a:r>
            <a:endParaRPr>
              <a:solidFill>
                <a:schemeClr val="dk1"/>
              </a:solidFill>
              <a:latin typeface="Old Standard TT"/>
              <a:ea typeface="Old Standard TT"/>
              <a:cs typeface="Old Standard TT"/>
              <a:sym typeface="Old Standard TT"/>
            </a:endParaRPr>
          </a:p>
          <a:p>
            <a:pPr indent="-317500" lvl="0" marL="457200" marR="0" rtl="0" algn="l">
              <a:lnSpc>
                <a:spcPct val="115000"/>
              </a:lnSpc>
              <a:spcBef>
                <a:spcPts val="1600"/>
              </a:spcBef>
              <a:spcAft>
                <a:spcPts val="1600"/>
              </a:spcAft>
              <a:buClr>
                <a:schemeClr val="dk1"/>
              </a:buClr>
              <a:buSzPts val="1400"/>
              <a:buFont typeface="Old Standard TT"/>
              <a:buChar char="●"/>
            </a:pPr>
            <a:r>
              <a:rPr lang="en">
                <a:solidFill>
                  <a:schemeClr val="dk1"/>
                </a:solidFill>
                <a:latin typeface="Old Standard TT"/>
                <a:ea typeface="Old Standard TT"/>
                <a:cs typeface="Old Standard TT"/>
                <a:sym typeface="Old Standard TT"/>
              </a:rPr>
              <a:t>kNN does not learn a complex global model; </a:t>
            </a:r>
            <a:r>
              <a:rPr lang="en">
                <a:solidFill>
                  <a:srgbClr val="FF0000"/>
                </a:solidFill>
                <a:latin typeface="Old Standard TT"/>
                <a:ea typeface="Old Standard TT"/>
                <a:cs typeface="Old Standard TT"/>
                <a:sym typeface="Old Standard TT"/>
              </a:rPr>
              <a:t>it mainly relies on similarity between cases</a:t>
            </a:r>
            <a:r>
              <a:rPr lang="en">
                <a:solidFill>
                  <a:schemeClr val="dk1"/>
                </a:solidFill>
                <a:latin typeface="Old Standard TT"/>
                <a:ea typeface="Old Standard TT"/>
                <a:cs typeface="Old Standard TT"/>
                <a:sym typeface="Old Standard TT"/>
              </a:rPr>
              <a:t>.</a:t>
            </a:r>
            <a:endParaRPr>
              <a:solidFill>
                <a:schemeClr val="dk1"/>
              </a:solidFill>
              <a:latin typeface="Old Standard TT"/>
              <a:ea typeface="Old Standard TT"/>
              <a:cs typeface="Old Standard TT"/>
              <a:sym typeface="Old Standard TT"/>
            </a:endParaRPr>
          </a:p>
        </p:txBody>
      </p:sp>
      <p:pic>
        <p:nvPicPr>
          <p:cNvPr id="184" name="Google Shape;184;p29"/>
          <p:cNvPicPr preferRelativeResize="0"/>
          <p:nvPr/>
        </p:nvPicPr>
        <p:blipFill>
          <a:blip r:embed="rId3">
            <a:alphaModFix/>
          </a:blip>
          <a:stretch>
            <a:fillRect/>
          </a:stretch>
        </p:blipFill>
        <p:spPr>
          <a:xfrm>
            <a:off x="423725" y="1330050"/>
            <a:ext cx="3740624" cy="2983601"/>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30"/>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lang="en"/>
              <a:t>kNN for Ticket Triage</a:t>
            </a:r>
            <a:endParaRPr/>
          </a:p>
        </p:txBody>
      </p:sp>
      <p:sp>
        <p:nvSpPr>
          <p:cNvPr id="190" name="Google Shape;190;p30"/>
          <p:cNvSpPr txBox="1"/>
          <p:nvPr/>
        </p:nvSpPr>
        <p:spPr>
          <a:xfrm>
            <a:off x="311700" y="668425"/>
            <a:ext cx="7460100" cy="15966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None/>
            </a:pPr>
            <a:r>
              <a:t/>
            </a:r>
            <a:endParaRPr>
              <a:solidFill>
                <a:schemeClr val="dk1"/>
              </a:solidFill>
              <a:latin typeface="Old Standard TT"/>
              <a:ea typeface="Old Standard TT"/>
              <a:cs typeface="Old Standard TT"/>
              <a:sym typeface="Old Standard TT"/>
            </a:endParaRPr>
          </a:p>
          <a:p>
            <a:pPr indent="-317500" lvl="0" marL="457200" marR="0" rtl="0" algn="l">
              <a:lnSpc>
                <a:spcPct val="115000"/>
              </a:lnSpc>
              <a:spcBef>
                <a:spcPts val="1600"/>
              </a:spcBef>
              <a:spcAft>
                <a:spcPts val="0"/>
              </a:spcAft>
              <a:buClr>
                <a:schemeClr val="dk1"/>
              </a:buClr>
              <a:buSzPts val="1400"/>
              <a:buFont typeface="Old Standard TT"/>
              <a:buChar char="●"/>
            </a:pPr>
            <a:r>
              <a:rPr lang="en">
                <a:solidFill>
                  <a:schemeClr val="dk1"/>
                </a:solidFill>
                <a:latin typeface="Old Standard TT"/>
                <a:ea typeface="Old Standard TT"/>
                <a:cs typeface="Old Standard TT"/>
                <a:sym typeface="Old Standard TT"/>
              </a:rPr>
              <a:t>Each ticket is converted into a </a:t>
            </a:r>
            <a:r>
              <a:rPr lang="en">
                <a:solidFill>
                  <a:srgbClr val="FF0000"/>
                </a:solidFill>
                <a:latin typeface="Old Standard TT"/>
                <a:ea typeface="Old Standard TT"/>
                <a:cs typeface="Old Standard TT"/>
                <a:sym typeface="Old Standard TT"/>
              </a:rPr>
              <a:t>TF-IDF vector</a:t>
            </a:r>
            <a:r>
              <a:rPr lang="en">
                <a:solidFill>
                  <a:schemeClr val="dk1"/>
                </a:solidFill>
                <a:latin typeface="Old Standard TT"/>
                <a:ea typeface="Old Standard TT"/>
                <a:cs typeface="Old Standard TT"/>
                <a:sym typeface="Old Standard TT"/>
              </a:rPr>
              <a:t> from its text.</a:t>
            </a:r>
            <a:endParaRPr>
              <a:solidFill>
                <a:schemeClr val="dk1"/>
              </a:solidFill>
              <a:latin typeface="Old Standard TT"/>
              <a:ea typeface="Old Standard TT"/>
              <a:cs typeface="Old Standard TT"/>
              <a:sym typeface="Old Standard TT"/>
            </a:endParaRPr>
          </a:p>
          <a:p>
            <a:pPr indent="-317500" lvl="0" marL="457200" marR="0" rtl="0" algn="l">
              <a:lnSpc>
                <a:spcPct val="115000"/>
              </a:lnSpc>
              <a:spcBef>
                <a:spcPts val="0"/>
              </a:spcBef>
              <a:spcAft>
                <a:spcPts val="0"/>
              </a:spcAft>
              <a:buClr>
                <a:schemeClr val="dk1"/>
              </a:buClr>
              <a:buSzPts val="1400"/>
              <a:buFont typeface="Old Standard TT"/>
              <a:buChar char="●"/>
            </a:pPr>
            <a:r>
              <a:rPr lang="en">
                <a:solidFill>
                  <a:schemeClr val="dk1"/>
                </a:solidFill>
                <a:latin typeface="Old Standard TT"/>
                <a:ea typeface="Old Standard TT"/>
                <a:cs typeface="Old Standard TT"/>
                <a:sym typeface="Old Standard TT"/>
              </a:rPr>
              <a:t>Using </a:t>
            </a:r>
            <a:r>
              <a:rPr lang="en">
                <a:solidFill>
                  <a:srgbClr val="FF0000"/>
                </a:solidFill>
                <a:latin typeface="Old Standard TT"/>
                <a:ea typeface="Old Standard TT"/>
                <a:cs typeface="Old Standard TT"/>
                <a:sym typeface="Old Standard TT"/>
              </a:rPr>
              <a:t>cosine similarity</a:t>
            </a:r>
            <a:r>
              <a:rPr lang="en">
                <a:solidFill>
                  <a:schemeClr val="dk1"/>
                </a:solidFill>
                <a:latin typeface="Old Standard TT"/>
                <a:ea typeface="Old Standard TT"/>
                <a:cs typeface="Old Standard TT"/>
                <a:sym typeface="Old Standard TT"/>
              </a:rPr>
              <a:t> to measure how similar two tickets are.</a:t>
            </a:r>
            <a:endParaRPr>
              <a:solidFill>
                <a:schemeClr val="dk1"/>
              </a:solidFill>
              <a:latin typeface="Old Standard TT"/>
              <a:ea typeface="Old Standard TT"/>
              <a:cs typeface="Old Standard TT"/>
              <a:sym typeface="Old Standard TT"/>
            </a:endParaRPr>
          </a:p>
          <a:p>
            <a:pPr indent="-317500" lvl="0" marL="457200" marR="0" rtl="0" algn="l">
              <a:lnSpc>
                <a:spcPct val="115000"/>
              </a:lnSpc>
              <a:spcBef>
                <a:spcPts val="0"/>
              </a:spcBef>
              <a:spcAft>
                <a:spcPts val="0"/>
              </a:spcAft>
              <a:buClr>
                <a:schemeClr val="dk1"/>
              </a:buClr>
              <a:buSzPts val="1400"/>
              <a:buFont typeface="Old Standard TT"/>
              <a:buChar char="●"/>
            </a:pPr>
            <a:r>
              <a:rPr lang="en">
                <a:solidFill>
                  <a:schemeClr val="dk1"/>
                </a:solidFill>
                <a:latin typeface="Old Standard TT"/>
                <a:ea typeface="Old Standard TT"/>
                <a:cs typeface="Old Standard TT"/>
                <a:sym typeface="Old Standard TT"/>
              </a:rPr>
              <a:t>For a new ticket, the model retrieves the most similar historical tickets.</a:t>
            </a:r>
            <a:endParaRPr>
              <a:solidFill>
                <a:schemeClr val="dk1"/>
              </a:solidFill>
              <a:latin typeface="Old Standard TT"/>
              <a:ea typeface="Old Standard TT"/>
              <a:cs typeface="Old Standard TT"/>
              <a:sym typeface="Old Standard TT"/>
            </a:endParaRPr>
          </a:p>
          <a:p>
            <a:pPr indent="-317500" lvl="0" marL="457200" marR="0" rtl="0" algn="l">
              <a:lnSpc>
                <a:spcPct val="115000"/>
              </a:lnSpc>
              <a:spcBef>
                <a:spcPts val="0"/>
              </a:spcBef>
              <a:spcAft>
                <a:spcPts val="0"/>
              </a:spcAft>
              <a:buClr>
                <a:schemeClr val="dk1"/>
              </a:buClr>
              <a:buSzPts val="1400"/>
              <a:buFont typeface="Old Standard TT"/>
              <a:buChar char="●"/>
            </a:pPr>
            <a:r>
              <a:rPr lang="en">
                <a:solidFill>
                  <a:schemeClr val="dk1"/>
                </a:solidFill>
                <a:latin typeface="Old Standard TT"/>
                <a:ea typeface="Old Standard TT"/>
                <a:cs typeface="Old Standard TT"/>
                <a:sym typeface="Old Standard TT"/>
              </a:rPr>
              <a:t>This works well because many support tickets contain </a:t>
            </a:r>
            <a:r>
              <a:rPr lang="en">
                <a:solidFill>
                  <a:srgbClr val="FF9900"/>
                </a:solidFill>
                <a:latin typeface="Old Standard TT"/>
                <a:ea typeface="Old Standard TT"/>
                <a:cs typeface="Old Standard TT"/>
                <a:sym typeface="Old Standard TT"/>
              </a:rPr>
              <a:t>recurring issue patterns</a:t>
            </a:r>
            <a:r>
              <a:rPr lang="en">
                <a:solidFill>
                  <a:schemeClr val="dk1"/>
                </a:solidFill>
                <a:latin typeface="Old Standard TT"/>
                <a:ea typeface="Old Standard TT"/>
                <a:cs typeface="Old Standard TT"/>
                <a:sym typeface="Old Standard TT"/>
              </a:rPr>
              <a:t>.</a:t>
            </a:r>
            <a:endParaRPr>
              <a:solidFill>
                <a:schemeClr val="dk1"/>
              </a:solidFill>
              <a:latin typeface="Old Standard TT"/>
              <a:ea typeface="Old Standard TT"/>
              <a:cs typeface="Old Standard TT"/>
              <a:sym typeface="Old Standard TT"/>
            </a:endParaRPr>
          </a:p>
        </p:txBody>
      </p:sp>
      <p:pic>
        <p:nvPicPr>
          <p:cNvPr id="191" name="Google Shape;191;p30"/>
          <p:cNvPicPr preferRelativeResize="0"/>
          <p:nvPr/>
        </p:nvPicPr>
        <p:blipFill>
          <a:blip r:embed="rId3">
            <a:alphaModFix/>
          </a:blip>
          <a:stretch>
            <a:fillRect/>
          </a:stretch>
        </p:blipFill>
        <p:spPr>
          <a:xfrm>
            <a:off x="152400" y="2519400"/>
            <a:ext cx="8839204" cy="2063056"/>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31"/>
          <p:cNvSpPr txBox="1"/>
          <p:nvPr>
            <p:ph type="title"/>
          </p:nvPr>
        </p:nvSpPr>
        <p:spPr>
          <a:xfrm>
            <a:off x="488550" y="486175"/>
            <a:ext cx="8166900" cy="98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600"/>
              <a:t>Model Performance Comparison</a:t>
            </a:r>
            <a:endParaRPr sz="3600"/>
          </a:p>
        </p:txBody>
      </p:sp>
      <p:pic>
        <p:nvPicPr>
          <p:cNvPr id="197" name="Google Shape;197;p31"/>
          <p:cNvPicPr preferRelativeResize="0"/>
          <p:nvPr/>
        </p:nvPicPr>
        <p:blipFill>
          <a:blip r:embed="rId3">
            <a:alphaModFix/>
          </a:blip>
          <a:stretch>
            <a:fillRect/>
          </a:stretch>
        </p:blipFill>
        <p:spPr>
          <a:xfrm>
            <a:off x="360175" y="1895888"/>
            <a:ext cx="8423659" cy="2703201"/>
          </a:xfrm>
          <a:prstGeom prst="rect">
            <a:avLst/>
          </a:prstGeom>
          <a:noFill/>
          <a:ln>
            <a:noFill/>
          </a:ln>
        </p:spPr>
      </p:pic>
      <p:sp>
        <p:nvSpPr>
          <p:cNvPr id="198" name="Google Shape;198;p31"/>
          <p:cNvSpPr txBox="1"/>
          <p:nvPr/>
        </p:nvSpPr>
        <p:spPr>
          <a:xfrm>
            <a:off x="488550" y="1236325"/>
            <a:ext cx="7159500" cy="5298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1600"/>
              </a:spcAft>
              <a:buNone/>
            </a:pPr>
            <a:r>
              <a:rPr lang="en">
                <a:solidFill>
                  <a:schemeClr val="dk1"/>
                </a:solidFill>
                <a:latin typeface="Old Standard TT"/>
                <a:ea typeface="Old Standard TT"/>
                <a:cs typeface="Old Standard TT"/>
                <a:sym typeface="Old Standard TT"/>
              </a:rPr>
              <a:t>Accuracy of Each Model Across the Three Tasks</a:t>
            </a:r>
            <a:r>
              <a:rPr lang="en" sz="1800">
                <a:solidFill>
                  <a:schemeClr val="dk1"/>
                </a:solidFill>
                <a:latin typeface="Old Standard TT"/>
                <a:ea typeface="Old Standard TT"/>
                <a:cs typeface="Old Standard TT"/>
                <a:sym typeface="Old Standard TT"/>
              </a:rPr>
              <a:t>:</a:t>
            </a:r>
            <a:endParaRPr>
              <a:solidFill>
                <a:schemeClr val="dk1"/>
              </a:solidFill>
              <a:latin typeface="Old Standard TT"/>
              <a:ea typeface="Old Standard TT"/>
              <a:cs typeface="Old Standard TT"/>
              <a:sym typeface="Old Standard TT"/>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32"/>
          <p:cNvSpPr txBox="1"/>
          <p:nvPr>
            <p:ph idx="2" type="body"/>
          </p:nvPr>
        </p:nvSpPr>
        <p:spPr>
          <a:xfrm>
            <a:off x="248550" y="124375"/>
            <a:ext cx="8646900" cy="4309800"/>
          </a:xfrm>
          <a:prstGeom prst="rect">
            <a:avLst/>
          </a:prstGeom>
        </p:spPr>
        <p:txBody>
          <a:bodyPr anchorCtr="0" anchor="t" bIns="91425" lIns="91425" spcFirstLastPara="1" rIns="91425" wrap="square" tIns="91425">
            <a:noAutofit/>
          </a:bodyPr>
          <a:lstStyle/>
          <a:p>
            <a:pPr indent="-304800" lvl="0" marL="457200" rtl="0" algn="l">
              <a:lnSpc>
                <a:spcPct val="157500"/>
              </a:lnSpc>
              <a:spcBef>
                <a:spcPts val="0"/>
              </a:spcBef>
              <a:spcAft>
                <a:spcPts val="0"/>
              </a:spcAft>
              <a:buClr>
                <a:srgbClr val="1A1C1F"/>
              </a:buClr>
              <a:buSzPts val="1200"/>
              <a:buFont typeface="Old Standard TT"/>
              <a:buChar char="●"/>
            </a:pPr>
            <a:r>
              <a:rPr b="1" lang="en" sz="1200">
                <a:solidFill>
                  <a:srgbClr val="1A1C1F"/>
                </a:solidFill>
              </a:rPr>
              <a:t>TF-IDF + weighted kNN</a:t>
            </a:r>
            <a:endParaRPr b="1" sz="1200">
              <a:solidFill>
                <a:srgbClr val="1A1C1F"/>
              </a:solidFill>
            </a:endParaRPr>
          </a:p>
          <a:p>
            <a:pPr indent="-304800" lvl="1" marL="914400" rtl="0" algn="l">
              <a:lnSpc>
                <a:spcPct val="157500"/>
              </a:lnSpc>
              <a:spcBef>
                <a:spcPts val="0"/>
              </a:spcBef>
              <a:spcAft>
                <a:spcPts val="0"/>
              </a:spcAft>
              <a:buClr>
                <a:srgbClr val="1A1C1F"/>
              </a:buClr>
              <a:buSzPts val="1200"/>
              <a:buFont typeface="Old Standard TT"/>
              <a:buChar char="●"/>
            </a:pPr>
            <a:r>
              <a:rPr lang="en">
                <a:solidFill>
                  <a:srgbClr val="1A1C1F"/>
                </a:solidFill>
              </a:rPr>
              <a:t>Works best on our dataset because many tickets are very similar to past cases</a:t>
            </a:r>
            <a:endParaRPr>
              <a:solidFill>
                <a:srgbClr val="1A1C1F"/>
              </a:solidFill>
            </a:endParaRPr>
          </a:p>
          <a:p>
            <a:pPr indent="-304800" lvl="1" marL="914400" rtl="0" algn="l">
              <a:lnSpc>
                <a:spcPct val="157500"/>
              </a:lnSpc>
              <a:spcBef>
                <a:spcPts val="0"/>
              </a:spcBef>
              <a:spcAft>
                <a:spcPts val="0"/>
              </a:spcAft>
              <a:buClr>
                <a:srgbClr val="1A1C1F"/>
              </a:buClr>
              <a:buSzPts val="1200"/>
              <a:buFont typeface="Arial"/>
              <a:buChar char="●"/>
            </a:pPr>
            <a:r>
              <a:rPr lang="en">
                <a:solidFill>
                  <a:srgbClr val="1A1C1F"/>
                </a:solidFill>
              </a:rPr>
              <a:t>TF-IDF gives text vectors, and </a:t>
            </a:r>
            <a:r>
              <a:rPr b="1" lang="en">
                <a:solidFill>
                  <a:srgbClr val="1A1C1F"/>
                </a:solidFill>
              </a:rPr>
              <a:t>cosine similarity</a:t>
            </a:r>
            <a:r>
              <a:rPr lang="en">
                <a:solidFill>
                  <a:srgbClr val="1A1C1F"/>
                </a:solidFill>
              </a:rPr>
              <a:t> is a natural way to compare them</a:t>
            </a:r>
            <a:endParaRPr>
              <a:solidFill>
                <a:srgbClr val="1A1C1F"/>
              </a:solidFill>
            </a:endParaRPr>
          </a:p>
          <a:p>
            <a:pPr indent="-304800" lvl="1" marL="914400" rtl="0" algn="l">
              <a:lnSpc>
                <a:spcPct val="157500"/>
              </a:lnSpc>
              <a:spcBef>
                <a:spcPts val="0"/>
              </a:spcBef>
              <a:spcAft>
                <a:spcPts val="0"/>
              </a:spcAft>
              <a:buClr>
                <a:srgbClr val="1A1C1F"/>
              </a:buClr>
              <a:buSzPts val="1200"/>
              <a:buFont typeface="Old Standard TT"/>
              <a:buChar char="●"/>
            </a:pPr>
            <a:r>
              <a:rPr lang="en">
                <a:solidFill>
                  <a:srgbClr val="1A1C1F"/>
                </a:solidFill>
              </a:rPr>
              <a:t>In our project which is a sparse search space, nearest-neighbor matching can capture repeated ticket patterns directly</a:t>
            </a:r>
            <a:endParaRPr>
              <a:solidFill>
                <a:srgbClr val="1A1C1F"/>
              </a:solidFill>
            </a:endParaRPr>
          </a:p>
          <a:p>
            <a:pPr indent="-304800" lvl="0" marL="457200" rtl="0" algn="l">
              <a:lnSpc>
                <a:spcPct val="157500"/>
              </a:lnSpc>
              <a:spcBef>
                <a:spcPts val="0"/>
              </a:spcBef>
              <a:spcAft>
                <a:spcPts val="0"/>
              </a:spcAft>
              <a:buClr>
                <a:srgbClr val="1A1C1F"/>
              </a:buClr>
              <a:buSzPts val="1200"/>
              <a:buFont typeface="Old Standard TT"/>
              <a:buChar char="●"/>
            </a:pPr>
            <a:r>
              <a:rPr b="1" lang="en" sz="1200">
                <a:solidFill>
                  <a:srgbClr val="1A1C1F"/>
                </a:solidFill>
              </a:rPr>
              <a:t>TF-IDF + Linear SVM</a:t>
            </a:r>
            <a:endParaRPr b="1" sz="1200">
              <a:solidFill>
                <a:srgbClr val="1A1C1F"/>
              </a:solidFill>
            </a:endParaRPr>
          </a:p>
          <a:p>
            <a:pPr indent="-304800" lvl="1" marL="914400" rtl="0" algn="l">
              <a:lnSpc>
                <a:spcPct val="157500"/>
              </a:lnSpc>
              <a:spcBef>
                <a:spcPts val="0"/>
              </a:spcBef>
              <a:spcAft>
                <a:spcPts val="0"/>
              </a:spcAft>
              <a:buClr>
                <a:srgbClr val="1A1C1F"/>
              </a:buClr>
              <a:buSzPts val="1200"/>
              <a:buFont typeface="Old Standard TT"/>
              <a:buChar char="●"/>
            </a:pPr>
            <a:r>
              <a:rPr lang="en">
                <a:solidFill>
                  <a:srgbClr val="1A1C1F"/>
                </a:solidFill>
              </a:rPr>
              <a:t>Strong classical baseline for high-dimensional sparse text</a:t>
            </a:r>
            <a:endParaRPr>
              <a:solidFill>
                <a:srgbClr val="1A1C1F"/>
              </a:solidFill>
            </a:endParaRPr>
          </a:p>
          <a:p>
            <a:pPr indent="-304800" lvl="1" marL="914400" rtl="0" algn="l">
              <a:lnSpc>
                <a:spcPct val="157500"/>
              </a:lnSpc>
              <a:spcBef>
                <a:spcPts val="0"/>
              </a:spcBef>
              <a:spcAft>
                <a:spcPts val="0"/>
              </a:spcAft>
              <a:buClr>
                <a:srgbClr val="1A1C1F"/>
              </a:buClr>
              <a:buSzPts val="1200"/>
              <a:buFont typeface="Old Standard TT"/>
              <a:buChar char="●"/>
            </a:pPr>
            <a:r>
              <a:rPr lang="en">
                <a:solidFill>
                  <a:srgbClr val="1A1C1F"/>
                </a:solidFill>
              </a:rPr>
              <a:t>Learns a stable global decision boundary</a:t>
            </a:r>
            <a:endParaRPr>
              <a:solidFill>
                <a:srgbClr val="1A1C1F"/>
              </a:solidFill>
            </a:endParaRPr>
          </a:p>
          <a:p>
            <a:pPr indent="-304800" lvl="1" marL="914400" rtl="0" algn="l">
              <a:lnSpc>
                <a:spcPct val="157500"/>
              </a:lnSpc>
              <a:spcBef>
                <a:spcPts val="0"/>
              </a:spcBef>
              <a:spcAft>
                <a:spcPts val="0"/>
              </a:spcAft>
              <a:buClr>
                <a:srgbClr val="1A1C1F"/>
              </a:buClr>
              <a:buSzPts val="1200"/>
              <a:buFont typeface="Old Standard TT"/>
              <a:buChar char="●"/>
            </a:pPr>
            <a:r>
              <a:rPr lang="en">
                <a:solidFill>
                  <a:srgbClr val="1A1C1F"/>
                </a:solidFill>
              </a:rPr>
              <a:t>Performs well, but may miss some local case-level similarity</a:t>
            </a:r>
            <a:endParaRPr>
              <a:solidFill>
                <a:srgbClr val="1A1C1F"/>
              </a:solidFill>
            </a:endParaRPr>
          </a:p>
          <a:p>
            <a:pPr indent="-304800" lvl="0" marL="457200" rtl="0" algn="l">
              <a:lnSpc>
                <a:spcPct val="157500"/>
              </a:lnSpc>
              <a:spcBef>
                <a:spcPts val="0"/>
              </a:spcBef>
              <a:spcAft>
                <a:spcPts val="0"/>
              </a:spcAft>
              <a:buClr>
                <a:srgbClr val="1A1C1F"/>
              </a:buClr>
              <a:buSzPts val="1200"/>
              <a:buFont typeface="Old Standard TT"/>
              <a:buChar char="●"/>
            </a:pPr>
            <a:r>
              <a:rPr b="1" lang="en" sz="1200">
                <a:solidFill>
                  <a:srgbClr val="1A1C1F"/>
                </a:solidFill>
              </a:rPr>
              <a:t>TF-IDF + RBF Kernel SVM</a:t>
            </a:r>
            <a:endParaRPr sz="1200"/>
          </a:p>
          <a:p>
            <a:pPr indent="-304800" lvl="1" marL="914400" rtl="0" algn="l">
              <a:lnSpc>
                <a:spcPct val="157500"/>
              </a:lnSpc>
              <a:spcBef>
                <a:spcPts val="0"/>
              </a:spcBef>
              <a:spcAft>
                <a:spcPts val="0"/>
              </a:spcAft>
              <a:buClr>
                <a:srgbClr val="1A1C1F"/>
              </a:buClr>
              <a:buSzPts val="1200"/>
              <a:buFont typeface="Old Standard TT"/>
              <a:buChar char="●"/>
            </a:pPr>
            <a:r>
              <a:rPr lang="en">
                <a:solidFill>
                  <a:srgbClr val="1A1C1F"/>
                </a:solidFill>
              </a:rPr>
              <a:t>Can model more complex boundaries</a:t>
            </a:r>
            <a:endParaRPr/>
          </a:p>
          <a:p>
            <a:pPr indent="-304800" lvl="1" marL="914400" rtl="0" algn="l">
              <a:lnSpc>
                <a:spcPct val="157500"/>
              </a:lnSpc>
              <a:spcBef>
                <a:spcPts val="0"/>
              </a:spcBef>
              <a:spcAft>
                <a:spcPts val="0"/>
              </a:spcAft>
              <a:buClr>
                <a:srgbClr val="1A1C1F"/>
              </a:buClr>
              <a:buSzPts val="1200"/>
              <a:buFont typeface="Old Standard TT"/>
              <a:buChar char="●"/>
            </a:pPr>
            <a:r>
              <a:rPr lang="en">
                <a:solidFill>
                  <a:srgbClr val="1A1C1F"/>
                </a:solidFill>
              </a:rPr>
              <a:t>Did not clearly outperform Linear SVM in our setting</a:t>
            </a:r>
            <a:endParaRPr>
              <a:solidFill>
                <a:srgbClr val="1A1C1F"/>
              </a:solidFill>
            </a:endParaRPr>
          </a:p>
          <a:p>
            <a:pPr indent="-304800" lvl="1" marL="914400" rtl="0" algn="l">
              <a:lnSpc>
                <a:spcPct val="157500"/>
              </a:lnSpc>
              <a:spcBef>
                <a:spcPts val="0"/>
              </a:spcBef>
              <a:spcAft>
                <a:spcPts val="0"/>
              </a:spcAft>
              <a:buClr>
                <a:srgbClr val="1A1C1F"/>
              </a:buClr>
              <a:buSzPts val="1200"/>
              <a:buFont typeface="Old Standard TT"/>
              <a:buChar char="●"/>
            </a:pPr>
            <a:r>
              <a:rPr lang="en">
                <a:solidFill>
                  <a:srgbClr val="1A1C1F"/>
                </a:solidFill>
              </a:rPr>
              <a:t>Suggests the TF-IDF space may already be well separated by a linear model</a:t>
            </a:r>
            <a:endParaRPr>
              <a:solidFill>
                <a:srgbClr val="1A1C1F"/>
              </a:solidFill>
            </a:endParaRPr>
          </a:p>
          <a:p>
            <a:pPr indent="-304800" lvl="0" marL="457200" rtl="0" algn="l">
              <a:lnSpc>
                <a:spcPct val="157500"/>
              </a:lnSpc>
              <a:spcBef>
                <a:spcPts val="0"/>
              </a:spcBef>
              <a:spcAft>
                <a:spcPts val="0"/>
              </a:spcAft>
              <a:buClr>
                <a:srgbClr val="1A1C1F"/>
              </a:buClr>
              <a:buSzPts val="1200"/>
              <a:buFont typeface="Old Standard TT"/>
              <a:buChar char="●"/>
            </a:pPr>
            <a:r>
              <a:rPr b="1" lang="en" sz="1200">
                <a:solidFill>
                  <a:srgbClr val="1A1C1F"/>
                </a:solidFill>
              </a:rPr>
              <a:t>BERT + NN</a:t>
            </a:r>
            <a:endParaRPr b="1" sz="1200">
              <a:solidFill>
                <a:srgbClr val="1A1C1F"/>
              </a:solidFill>
            </a:endParaRPr>
          </a:p>
          <a:p>
            <a:pPr indent="-304800" lvl="1" marL="914400" rtl="0" algn="l">
              <a:lnSpc>
                <a:spcPct val="157500"/>
              </a:lnSpc>
              <a:spcBef>
                <a:spcPts val="0"/>
              </a:spcBef>
              <a:spcAft>
                <a:spcPts val="0"/>
              </a:spcAft>
              <a:buClr>
                <a:srgbClr val="1A1C1F"/>
              </a:buClr>
              <a:buSzPts val="1200"/>
              <a:buFont typeface="Old Standard TT"/>
              <a:buChar char="●"/>
            </a:pPr>
            <a:r>
              <a:rPr lang="en">
                <a:solidFill>
                  <a:srgbClr val="1A1C1F"/>
                </a:solidFill>
              </a:rPr>
              <a:t>Captures contextual meaning better than pure bag-of-words features</a:t>
            </a:r>
            <a:endParaRPr>
              <a:solidFill>
                <a:srgbClr val="1A1C1F"/>
              </a:solidFill>
            </a:endParaRPr>
          </a:p>
          <a:p>
            <a:pPr indent="-304800" lvl="1" marL="914400" rtl="0" algn="l">
              <a:lnSpc>
                <a:spcPct val="157500"/>
              </a:lnSpc>
              <a:spcBef>
                <a:spcPts val="0"/>
              </a:spcBef>
              <a:spcAft>
                <a:spcPts val="0"/>
              </a:spcAft>
              <a:buClr>
                <a:srgbClr val="1A1C1F"/>
              </a:buClr>
              <a:buSzPts val="1200"/>
              <a:buFont typeface="Old Standard TT"/>
              <a:buChar char="●"/>
            </a:pPr>
            <a:r>
              <a:rPr lang="en">
                <a:solidFill>
                  <a:srgbClr val="1A1C1F"/>
                </a:solidFill>
              </a:rPr>
              <a:t>Helps on semantic understanding, especially for ticket type</a:t>
            </a:r>
            <a:endParaRPr>
              <a:solidFill>
                <a:srgbClr val="1A1C1F"/>
              </a:solidFill>
            </a:endParaRPr>
          </a:p>
          <a:p>
            <a:pPr indent="-304800" lvl="1" marL="914400" rtl="0" algn="l">
              <a:lnSpc>
                <a:spcPct val="157500"/>
              </a:lnSpc>
              <a:spcBef>
                <a:spcPts val="0"/>
              </a:spcBef>
              <a:spcAft>
                <a:spcPts val="0"/>
              </a:spcAft>
              <a:buClr>
                <a:srgbClr val="1A1C1F"/>
              </a:buClr>
              <a:buSzPts val="1200"/>
              <a:buFont typeface="Old Standard TT"/>
              <a:buChar char="●"/>
            </a:pPr>
            <a:r>
              <a:rPr lang="en">
                <a:solidFill>
                  <a:srgbClr val="1A1C1F"/>
                </a:solidFill>
              </a:rPr>
              <a:t>But on this dataset, repeated ticket patterns make retrieval methods even more effective</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33"/>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a:t>
            </a:r>
            <a:r>
              <a:rPr lang="en"/>
              <a:t>icket type analysis</a:t>
            </a:r>
            <a:endParaRPr/>
          </a:p>
        </p:txBody>
      </p:sp>
      <p:pic>
        <p:nvPicPr>
          <p:cNvPr id="209" name="Google Shape;209;p33"/>
          <p:cNvPicPr preferRelativeResize="0"/>
          <p:nvPr/>
        </p:nvPicPr>
        <p:blipFill>
          <a:blip r:embed="rId3">
            <a:alphaModFix/>
          </a:blip>
          <a:stretch>
            <a:fillRect/>
          </a:stretch>
        </p:blipFill>
        <p:spPr>
          <a:xfrm>
            <a:off x="226175" y="1394801"/>
            <a:ext cx="4345824" cy="3279872"/>
          </a:xfrm>
          <a:prstGeom prst="rect">
            <a:avLst/>
          </a:prstGeom>
          <a:noFill/>
          <a:ln>
            <a:noFill/>
          </a:ln>
        </p:spPr>
      </p:pic>
      <p:sp>
        <p:nvSpPr>
          <p:cNvPr id="210" name="Google Shape;210;p33"/>
          <p:cNvSpPr txBox="1"/>
          <p:nvPr/>
        </p:nvSpPr>
        <p:spPr>
          <a:xfrm>
            <a:off x="4784950" y="1662575"/>
            <a:ext cx="3640500" cy="1143600"/>
          </a:xfrm>
          <a:prstGeom prst="rect">
            <a:avLst/>
          </a:prstGeom>
          <a:noFill/>
          <a:ln>
            <a:noFill/>
          </a:ln>
        </p:spPr>
        <p:txBody>
          <a:bodyPr anchorCtr="0" anchor="t" bIns="91425" lIns="91425" spcFirstLastPara="1" rIns="91425" wrap="square" tIns="91425">
            <a:spAutoFit/>
          </a:bodyPr>
          <a:lstStyle/>
          <a:p>
            <a:pPr indent="-317500" lvl="0" marL="457200" marR="0" rtl="0" algn="l">
              <a:lnSpc>
                <a:spcPct val="115000"/>
              </a:lnSpc>
              <a:spcBef>
                <a:spcPts val="0"/>
              </a:spcBef>
              <a:spcAft>
                <a:spcPts val="0"/>
              </a:spcAft>
              <a:buClr>
                <a:schemeClr val="dk1"/>
              </a:buClr>
              <a:buSzPts val="1400"/>
              <a:buFont typeface="Old Standard TT"/>
              <a:buChar char="●"/>
            </a:pPr>
            <a:r>
              <a:rPr lang="en">
                <a:solidFill>
                  <a:schemeClr val="dk1"/>
                </a:solidFill>
                <a:latin typeface="Old Standard TT"/>
                <a:ea typeface="Old Standard TT"/>
                <a:cs typeface="Old Standard TT"/>
                <a:sym typeface="Old Standard TT"/>
              </a:rPr>
              <a:t>Best task overall</a:t>
            </a:r>
            <a:endParaRPr>
              <a:solidFill>
                <a:schemeClr val="dk1"/>
              </a:solidFill>
              <a:latin typeface="Old Standard TT"/>
              <a:ea typeface="Old Standard TT"/>
              <a:cs typeface="Old Standard TT"/>
              <a:sym typeface="Old Standard TT"/>
            </a:endParaRPr>
          </a:p>
          <a:p>
            <a:pPr indent="-317500" lvl="0" marL="457200" marR="0" rtl="0" algn="l">
              <a:lnSpc>
                <a:spcPct val="115000"/>
              </a:lnSpc>
              <a:spcBef>
                <a:spcPts val="0"/>
              </a:spcBef>
              <a:spcAft>
                <a:spcPts val="0"/>
              </a:spcAft>
              <a:buClr>
                <a:schemeClr val="dk1"/>
              </a:buClr>
              <a:buSzPts val="1400"/>
              <a:buFont typeface="Old Standard TT"/>
              <a:buChar char="●"/>
            </a:pPr>
            <a:r>
              <a:rPr lang="en">
                <a:solidFill>
                  <a:schemeClr val="dk1"/>
                </a:solidFill>
                <a:latin typeface="Old Standard TT"/>
                <a:ea typeface="Old Standard TT"/>
                <a:cs typeface="Old Standard TT"/>
                <a:sym typeface="Old Standard TT"/>
              </a:rPr>
              <a:t>Accuracy 0.91, weighted F1 0.90</a:t>
            </a:r>
            <a:endParaRPr>
              <a:solidFill>
                <a:schemeClr val="dk1"/>
              </a:solidFill>
              <a:latin typeface="Old Standard TT"/>
              <a:ea typeface="Old Standard TT"/>
              <a:cs typeface="Old Standard TT"/>
              <a:sym typeface="Old Standard TT"/>
            </a:endParaRPr>
          </a:p>
          <a:p>
            <a:pPr indent="-317500" lvl="0" marL="457200" marR="0" rtl="0" algn="l">
              <a:lnSpc>
                <a:spcPct val="115000"/>
              </a:lnSpc>
              <a:spcBef>
                <a:spcPts val="0"/>
              </a:spcBef>
              <a:spcAft>
                <a:spcPts val="0"/>
              </a:spcAft>
              <a:buClr>
                <a:schemeClr val="dk1"/>
              </a:buClr>
              <a:buSzPts val="1400"/>
              <a:buFont typeface="Old Standard TT"/>
              <a:buChar char="●"/>
            </a:pPr>
            <a:r>
              <a:rPr lang="en">
                <a:solidFill>
                  <a:schemeClr val="dk1"/>
                </a:solidFill>
                <a:latin typeface="Old Standard TT"/>
                <a:ea typeface="Old Standard TT"/>
                <a:cs typeface="Old Standard TT"/>
                <a:sym typeface="Old Standard TT"/>
              </a:rPr>
              <a:t>Strong on Change and Request</a:t>
            </a:r>
            <a:endParaRPr>
              <a:solidFill>
                <a:schemeClr val="dk1"/>
              </a:solidFill>
              <a:latin typeface="Old Standard TT"/>
              <a:ea typeface="Old Standard TT"/>
              <a:cs typeface="Old Standard TT"/>
              <a:sym typeface="Old Standard TT"/>
            </a:endParaRPr>
          </a:p>
          <a:p>
            <a:pPr indent="-317500" lvl="0" marL="457200" marR="0" rtl="0" algn="l">
              <a:lnSpc>
                <a:spcPct val="115000"/>
              </a:lnSpc>
              <a:spcBef>
                <a:spcPts val="0"/>
              </a:spcBef>
              <a:spcAft>
                <a:spcPts val="0"/>
              </a:spcAft>
              <a:buClr>
                <a:schemeClr val="dk1"/>
              </a:buClr>
              <a:buSzPts val="1400"/>
              <a:buFont typeface="Old Standard TT"/>
              <a:buChar char="●"/>
            </a:pPr>
            <a:r>
              <a:rPr lang="en">
                <a:solidFill>
                  <a:schemeClr val="dk1"/>
                </a:solidFill>
                <a:latin typeface="Old Standard TT"/>
                <a:ea typeface="Old Standard TT"/>
                <a:cs typeface="Old Standard TT"/>
                <a:sym typeface="Old Standard TT"/>
              </a:rPr>
              <a:t>Main confusion: Problem vs Incident</a:t>
            </a:r>
            <a:endParaRPr>
              <a:solidFill>
                <a:schemeClr val="dk1"/>
              </a:solidFill>
              <a:latin typeface="Old Standard TT"/>
              <a:ea typeface="Old Standard TT"/>
              <a:cs typeface="Old Standard TT"/>
              <a:sym typeface="Old Standard TT"/>
            </a:endParaRPr>
          </a:p>
        </p:txBody>
      </p:sp>
      <p:pic>
        <p:nvPicPr>
          <p:cNvPr id="211" name="Google Shape;211;p33"/>
          <p:cNvPicPr preferRelativeResize="0"/>
          <p:nvPr/>
        </p:nvPicPr>
        <p:blipFill>
          <a:blip r:embed="rId4">
            <a:alphaModFix/>
          </a:blip>
          <a:stretch>
            <a:fillRect/>
          </a:stretch>
        </p:blipFill>
        <p:spPr>
          <a:xfrm>
            <a:off x="4784950" y="3118533"/>
            <a:ext cx="3840724" cy="966717"/>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34"/>
          <p:cNvSpPr txBox="1"/>
          <p:nvPr>
            <p:ph idx="2" type="body"/>
          </p:nvPr>
        </p:nvSpPr>
        <p:spPr>
          <a:xfrm>
            <a:off x="4461700" y="1240650"/>
            <a:ext cx="4260300" cy="3397200"/>
          </a:xfrm>
          <a:prstGeom prst="rect">
            <a:avLst/>
          </a:prstGeom>
        </p:spPr>
        <p:txBody>
          <a:bodyPr anchorCtr="0" anchor="t" bIns="91425" lIns="91425" spcFirstLastPara="1" rIns="91425" wrap="square" tIns="91425">
            <a:noAutofit/>
          </a:bodyPr>
          <a:lstStyle/>
          <a:p>
            <a:pPr indent="-317500" lvl="0" marL="457200" marR="0" rtl="0" algn="l">
              <a:lnSpc>
                <a:spcPct val="115000"/>
              </a:lnSpc>
              <a:spcBef>
                <a:spcPts val="0"/>
              </a:spcBef>
              <a:spcAft>
                <a:spcPts val="0"/>
              </a:spcAft>
              <a:buSzPts val="1400"/>
              <a:buChar char="●"/>
            </a:pPr>
            <a:r>
              <a:rPr lang="en"/>
              <a:t>Accuracy = 0.79, Weighted F1 = 0.79</a:t>
            </a:r>
            <a:endParaRPr/>
          </a:p>
          <a:p>
            <a:pPr indent="-317500" lvl="0" marL="457200" marR="0" rtl="0" algn="l">
              <a:lnSpc>
                <a:spcPct val="115000"/>
              </a:lnSpc>
              <a:spcBef>
                <a:spcPts val="0"/>
              </a:spcBef>
              <a:spcAft>
                <a:spcPts val="0"/>
              </a:spcAft>
              <a:buSzPts val="1400"/>
              <a:buChar char="●"/>
            </a:pPr>
            <a:r>
              <a:rPr lang="en"/>
              <a:t>Priority prediction is harder because urgency is often implied rather than explicitly stated</a:t>
            </a:r>
            <a:endParaRPr/>
          </a:p>
          <a:p>
            <a:pPr indent="-317500" lvl="0" marL="457200" marR="0" rtl="0" algn="l">
              <a:lnSpc>
                <a:spcPct val="115000"/>
              </a:lnSpc>
              <a:spcBef>
                <a:spcPts val="0"/>
              </a:spcBef>
              <a:spcAft>
                <a:spcPts val="0"/>
              </a:spcAft>
              <a:buSzPts val="1400"/>
              <a:buChar char="●"/>
            </a:pPr>
            <a:r>
              <a:rPr lang="en"/>
              <a:t>For the high class,:</a:t>
            </a:r>
            <a:endParaRPr/>
          </a:p>
          <a:p>
            <a:pPr indent="-304800" lvl="1" marL="914400" marR="0" rtl="0" algn="l">
              <a:lnSpc>
                <a:spcPct val="115000"/>
              </a:lnSpc>
              <a:spcBef>
                <a:spcPts val="0"/>
              </a:spcBef>
              <a:spcAft>
                <a:spcPts val="0"/>
              </a:spcAft>
              <a:buSzPts val="1200"/>
              <a:buChar char="○"/>
            </a:pPr>
            <a:r>
              <a:rPr lang="en" sz="1400"/>
              <a:t>non-high predicted as high: 251</a:t>
            </a:r>
            <a:endParaRPr sz="1400"/>
          </a:p>
          <a:p>
            <a:pPr indent="-304800" lvl="1" marL="914400" marR="0" rtl="0" algn="l">
              <a:lnSpc>
                <a:spcPct val="115000"/>
              </a:lnSpc>
              <a:spcBef>
                <a:spcPts val="0"/>
              </a:spcBef>
              <a:spcAft>
                <a:spcPts val="0"/>
              </a:spcAft>
              <a:buSzPts val="1200"/>
              <a:buChar char="○"/>
            </a:pPr>
            <a:r>
              <a:rPr lang="en" sz="1400"/>
              <a:t>high predicted as non-high: 252</a:t>
            </a:r>
            <a:endParaRPr sz="1400"/>
          </a:p>
          <a:p>
            <a:pPr indent="-317500" lvl="0" marL="457200" marR="0" rtl="0" algn="l">
              <a:lnSpc>
                <a:spcPct val="115000"/>
              </a:lnSpc>
              <a:spcBef>
                <a:spcPts val="0"/>
              </a:spcBef>
              <a:spcAft>
                <a:spcPts val="0"/>
              </a:spcAft>
              <a:buSzPts val="1400"/>
              <a:buChar char="●"/>
            </a:pPr>
            <a:r>
              <a:rPr lang="en"/>
              <a:t>Over-predicting high is usually more tolerable, because it mainly increases workload</a:t>
            </a:r>
            <a:endParaRPr/>
          </a:p>
          <a:p>
            <a:pPr indent="-317500" lvl="0" marL="457200" marR="0" rtl="0" algn="l">
              <a:lnSpc>
                <a:spcPct val="115000"/>
              </a:lnSpc>
              <a:spcBef>
                <a:spcPts val="0"/>
              </a:spcBef>
              <a:spcAft>
                <a:spcPts val="0"/>
              </a:spcAft>
              <a:buSzPts val="1400"/>
              <a:buChar char="●"/>
            </a:pPr>
            <a:r>
              <a:rPr lang="en"/>
              <a:t>Under-predicting high is more risky, especially high -&gt; low (59 cases), since urgent tickets may be delayed</a:t>
            </a:r>
            <a:endParaRPr/>
          </a:p>
        </p:txBody>
      </p:sp>
      <p:pic>
        <p:nvPicPr>
          <p:cNvPr id="217" name="Google Shape;217;p34"/>
          <p:cNvPicPr preferRelativeResize="0"/>
          <p:nvPr/>
        </p:nvPicPr>
        <p:blipFill>
          <a:blip r:embed="rId3">
            <a:alphaModFix/>
          </a:blip>
          <a:stretch>
            <a:fillRect/>
          </a:stretch>
        </p:blipFill>
        <p:spPr>
          <a:xfrm>
            <a:off x="188847" y="1311349"/>
            <a:ext cx="4066774" cy="3117874"/>
          </a:xfrm>
          <a:prstGeom prst="rect">
            <a:avLst/>
          </a:prstGeom>
          <a:noFill/>
          <a:ln>
            <a:noFill/>
          </a:ln>
        </p:spPr>
      </p:pic>
      <p:sp>
        <p:nvSpPr>
          <p:cNvPr id="218" name="Google Shape;218;p34"/>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Priority type analysis</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35"/>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Queue</a:t>
            </a:r>
            <a:r>
              <a:rPr lang="en"/>
              <a:t> type analysis</a:t>
            </a:r>
            <a:endParaRPr/>
          </a:p>
        </p:txBody>
      </p:sp>
      <p:sp>
        <p:nvSpPr>
          <p:cNvPr id="224" name="Google Shape;224;p35"/>
          <p:cNvSpPr txBox="1"/>
          <p:nvPr>
            <p:ph idx="1" type="body"/>
          </p:nvPr>
        </p:nvSpPr>
        <p:spPr>
          <a:xfrm>
            <a:off x="4572000" y="1216288"/>
            <a:ext cx="3999900" cy="3397200"/>
          </a:xfrm>
          <a:prstGeom prst="rect">
            <a:avLst/>
          </a:prstGeom>
        </p:spPr>
        <p:txBody>
          <a:bodyPr anchorCtr="0" anchor="t" bIns="91425" lIns="91425" spcFirstLastPara="1" rIns="91425" wrap="square" tIns="91425">
            <a:noAutofit/>
          </a:bodyPr>
          <a:lstStyle/>
          <a:p>
            <a:pPr indent="-317500" lvl="0" marL="457200" marR="0" rtl="0" algn="l">
              <a:lnSpc>
                <a:spcPct val="115000"/>
              </a:lnSpc>
              <a:spcBef>
                <a:spcPts val="0"/>
              </a:spcBef>
              <a:spcAft>
                <a:spcPts val="0"/>
              </a:spcAft>
              <a:buSzPts val="1400"/>
              <a:buChar char="●"/>
            </a:pPr>
            <a:r>
              <a:rPr lang="en"/>
              <a:t>Accuracy = 0.75</a:t>
            </a:r>
            <a:endParaRPr/>
          </a:p>
          <a:p>
            <a:pPr indent="-317500" lvl="0" marL="457200" marR="0" rtl="0" algn="l">
              <a:lnSpc>
                <a:spcPct val="115000"/>
              </a:lnSpc>
              <a:spcBef>
                <a:spcPts val="0"/>
              </a:spcBef>
              <a:spcAft>
                <a:spcPts val="0"/>
              </a:spcAft>
              <a:buSzPts val="1400"/>
              <a:buChar char="●"/>
            </a:pPr>
            <a:r>
              <a:rPr lang="en"/>
              <a:t>Weighted F1 = 0.75</a:t>
            </a:r>
            <a:endParaRPr/>
          </a:p>
          <a:p>
            <a:pPr indent="-317500" lvl="0" marL="457200" marR="0" rtl="0" algn="l">
              <a:lnSpc>
                <a:spcPct val="115000"/>
              </a:lnSpc>
              <a:spcBef>
                <a:spcPts val="0"/>
              </a:spcBef>
              <a:spcAft>
                <a:spcPts val="0"/>
              </a:spcAft>
              <a:buSzPts val="1400"/>
              <a:buChar char="●"/>
            </a:pPr>
            <a:r>
              <a:rPr lang="en"/>
              <a:t>Queue prediction is the hardest task</a:t>
            </a:r>
            <a:endParaRPr/>
          </a:p>
          <a:p>
            <a:pPr indent="-317500" lvl="0" marL="457200" marR="0" rtl="0" algn="l">
              <a:lnSpc>
                <a:spcPct val="115000"/>
              </a:lnSpc>
              <a:spcBef>
                <a:spcPts val="0"/>
              </a:spcBef>
              <a:spcAft>
                <a:spcPts val="0"/>
              </a:spcAft>
              <a:buSzPts val="1400"/>
              <a:buChar char="●"/>
            </a:pPr>
            <a:r>
              <a:rPr lang="en"/>
              <a:t>There are 10 classes, making this a much finer-grained problem</a:t>
            </a:r>
            <a:endParaRPr/>
          </a:p>
          <a:p>
            <a:pPr indent="-317500" lvl="0" marL="457200" marR="0" rtl="0" algn="l">
              <a:lnSpc>
                <a:spcPct val="115000"/>
              </a:lnSpc>
              <a:spcBef>
                <a:spcPts val="0"/>
              </a:spcBef>
              <a:spcAft>
                <a:spcPts val="0"/>
              </a:spcAft>
              <a:buSzPts val="1400"/>
              <a:buChar char="●"/>
            </a:pPr>
            <a:r>
              <a:rPr lang="en"/>
              <a:t>Strong performance despite large class space and overlapping responsibilities</a:t>
            </a:r>
            <a:endParaRPr/>
          </a:p>
          <a:p>
            <a:pPr indent="-317500" lvl="0" marL="457200" marR="0" rtl="0" algn="l">
              <a:lnSpc>
                <a:spcPct val="115000"/>
              </a:lnSpc>
              <a:spcBef>
                <a:spcPts val="0"/>
              </a:spcBef>
              <a:spcAft>
                <a:spcPts val="0"/>
              </a:spcAft>
              <a:buSzPts val="1400"/>
              <a:buChar char="●"/>
            </a:pPr>
            <a:r>
              <a:rPr lang="en"/>
              <a:t>Most confusion happens among similar technical/service-related queues</a:t>
            </a:r>
            <a:endParaRPr/>
          </a:p>
          <a:p>
            <a:pPr indent="-317500" lvl="0" marL="457200" marR="0" rtl="0" algn="l">
              <a:lnSpc>
                <a:spcPct val="115000"/>
              </a:lnSpc>
              <a:spcBef>
                <a:spcPts val="0"/>
              </a:spcBef>
              <a:spcAft>
                <a:spcPts val="0"/>
              </a:spcAft>
              <a:buSzPts val="1400"/>
              <a:buChar char="●"/>
            </a:pPr>
            <a:r>
              <a:rPr lang="en"/>
              <a:t>Queue labeling is partly subjective, so some errors are expected</a:t>
            </a:r>
            <a:endParaRPr/>
          </a:p>
        </p:txBody>
      </p:sp>
      <p:pic>
        <p:nvPicPr>
          <p:cNvPr id="225" name="Google Shape;225;p35"/>
          <p:cNvPicPr preferRelativeResize="0"/>
          <p:nvPr/>
        </p:nvPicPr>
        <p:blipFill>
          <a:blip r:embed="rId3">
            <a:alphaModFix/>
          </a:blip>
          <a:stretch>
            <a:fillRect/>
          </a:stretch>
        </p:blipFill>
        <p:spPr>
          <a:xfrm>
            <a:off x="226100" y="1216300"/>
            <a:ext cx="4190624" cy="3114876"/>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36"/>
          <p:cNvSpPr txBox="1"/>
          <p:nvPr>
            <p:ph type="title"/>
          </p:nvPr>
        </p:nvSpPr>
        <p:spPr>
          <a:xfrm>
            <a:off x="512700" y="1893300"/>
            <a:ext cx="8118600" cy="1522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DEMO</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pic>
        <p:nvPicPr>
          <p:cNvPr descr="Looking through a cardboard paper-towel roll towards light at the end of it" id="235" name="Google Shape;235;p37"/>
          <p:cNvPicPr preferRelativeResize="0"/>
          <p:nvPr/>
        </p:nvPicPr>
        <p:blipFill rotWithShape="1">
          <a:blip r:embed="rId3">
            <a:alphaModFix/>
          </a:blip>
          <a:srcRect b="984" l="22872" r="19354" t="1578"/>
          <a:stretch/>
        </p:blipFill>
        <p:spPr>
          <a:xfrm>
            <a:off x="0" y="0"/>
            <a:ext cx="4576348" cy="5143501"/>
          </a:xfrm>
          <a:prstGeom prst="rect">
            <a:avLst/>
          </a:prstGeom>
          <a:noFill/>
          <a:ln>
            <a:noFill/>
          </a:ln>
        </p:spPr>
      </p:pic>
      <p:pic>
        <p:nvPicPr>
          <p:cNvPr descr="Overhead shot of various masculine accessories including large headphones, a bow-tie, and a wrist watch" id="236" name="Google Shape;236;p37"/>
          <p:cNvPicPr preferRelativeResize="0"/>
          <p:nvPr/>
        </p:nvPicPr>
        <p:blipFill rotWithShape="1">
          <a:blip r:embed="rId4">
            <a:alphaModFix/>
          </a:blip>
          <a:srcRect b="6841" l="37422" r="8655" t="840"/>
          <a:stretch/>
        </p:blipFill>
        <p:spPr>
          <a:xfrm>
            <a:off x="4576350" y="0"/>
            <a:ext cx="4567649" cy="5143200"/>
          </a:xfrm>
          <a:prstGeom prst="rect">
            <a:avLst/>
          </a:prstGeom>
          <a:noFill/>
          <a:ln>
            <a:noFill/>
          </a:ln>
        </p:spPr>
      </p:pic>
      <p:sp>
        <p:nvSpPr>
          <p:cNvPr id="237" name="Google Shape;237;p37"/>
          <p:cNvSpPr txBox="1"/>
          <p:nvPr>
            <p:ph idx="1" type="body"/>
          </p:nvPr>
        </p:nvSpPr>
        <p:spPr>
          <a:xfrm>
            <a:off x="518975" y="1845475"/>
            <a:ext cx="3697800" cy="1843500"/>
          </a:xfrm>
          <a:prstGeom prst="rect">
            <a:avLst/>
          </a:prstGeom>
          <a:noFill/>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accent4"/>
                </a:solidFill>
              </a:rPr>
              <a:t>Thank you for your attention!</a:t>
            </a:r>
            <a:endParaRPr>
              <a:solidFill>
                <a:schemeClr val="accent4"/>
              </a:solidFill>
            </a:endParaRPr>
          </a:p>
          <a:p>
            <a:pPr indent="0" lvl="0" marL="0" rtl="0" algn="l">
              <a:spcBef>
                <a:spcPts val="0"/>
              </a:spcBef>
              <a:spcAft>
                <a:spcPts val="0"/>
              </a:spcAft>
              <a:buNone/>
            </a:pPr>
            <a:r>
              <a:rPr lang="en">
                <a:solidFill>
                  <a:schemeClr val="accent4"/>
                </a:solidFill>
              </a:rPr>
              <a:t> </a:t>
            </a:r>
            <a:endParaRPr>
              <a:solidFill>
                <a:schemeClr val="accent4"/>
              </a:solidFill>
            </a:endParaRPr>
          </a:p>
          <a:p>
            <a:pPr indent="0" lvl="0" marL="0" rtl="0" algn="ctr">
              <a:spcBef>
                <a:spcPts val="0"/>
              </a:spcBef>
              <a:spcAft>
                <a:spcPts val="0"/>
              </a:spcAft>
              <a:buNone/>
            </a:pPr>
            <a:r>
              <a:rPr lang="en">
                <a:solidFill>
                  <a:schemeClr val="accent4"/>
                </a:solidFill>
              </a:rPr>
              <a:t>Q&amp;A</a:t>
            </a:r>
            <a:endParaRPr>
              <a:solidFill>
                <a:schemeClr val="accent4"/>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Paperback">
  <a:themeElements>
    <a:clrScheme name="Paperback">
      <a:dk1>
        <a:srgbClr val="000000"/>
      </a:dk1>
      <a:lt1>
        <a:srgbClr val="FFFFFF"/>
      </a:lt1>
      <a:dk2>
        <a:srgbClr val="00695C"/>
      </a:dk2>
      <a:lt2>
        <a:srgbClr val="26A69A"/>
      </a:lt2>
      <a:accent1>
        <a:srgbClr val="FFFBF0"/>
      </a:accent1>
      <a:accent2>
        <a:srgbClr val="B7B7B7"/>
      </a:accent2>
      <a:accent3>
        <a:srgbClr val="FB8C00"/>
      </a:accent3>
      <a:accent4>
        <a:srgbClr val="80CBC4"/>
      </a:accent4>
      <a:accent5>
        <a:srgbClr val="AF4345"/>
      </a:accent5>
      <a:accent6>
        <a:srgbClr val="F58F8F"/>
      </a:accent6>
      <a:hlink>
        <a:srgbClr val="AF4345"/>
      </a:hlink>
      <a:folHlink>
        <a:srgbClr val="AF434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